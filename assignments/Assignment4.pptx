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Amatic SC"/>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maticSC-regular.fntdata"/><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AmaticSC-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d23294a91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d23294a91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Alexis will voice-over this slide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d23294a914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d23294a914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 your model using the classic conventions (reservoirs, flows, converters, connectors).]</a:t>
            </a:r>
            <a:endParaRPr/>
          </a:p>
          <a:p>
            <a:pPr indent="0" lvl="0" marL="0" rtl="0" algn="l">
              <a:spcBef>
                <a:spcPts val="0"/>
              </a:spcBef>
              <a:spcAft>
                <a:spcPts val="0"/>
              </a:spcAft>
              <a:buNone/>
            </a:pPr>
            <a:r>
              <a:rPr lang="en" u="sng"/>
              <a:t>Script: </a:t>
            </a:r>
            <a:endParaRPr u="sng"/>
          </a:p>
          <a:p>
            <a:pPr indent="0" lvl="0" marL="0" rtl="0" algn="l">
              <a:spcBef>
                <a:spcPts val="0"/>
              </a:spcBef>
              <a:spcAft>
                <a:spcPts val="0"/>
              </a:spcAft>
              <a:buNone/>
            </a:pPr>
            <a:r>
              <a:rPr lang="en"/>
              <a:t>Here we have the reservoirs</a:t>
            </a:r>
            <a:r>
              <a:rPr lang="en"/>
              <a:t> phosphorus in the living organic state, phosphorus in the dead organic state, and inorganic phosphorus.</a:t>
            </a:r>
            <a:endParaRPr/>
          </a:p>
          <a:p>
            <a:pPr indent="0" lvl="0" marL="0" rtl="0" algn="l">
              <a:spcBef>
                <a:spcPts val="0"/>
              </a:spcBef>
              <a:spcAft>
                <a:spcPts val="0"/>
              </a:spcAft>
              <a:buNone/>
            </a:pPr>
            <a:r>
              <a:rPr lang="en"/>
              <a:t>Phosphorus in the living organic state flows into the phosphorus in the dead organic state</a:t>
            </a:r>
            <a:r>
              <a:rPr lang="en"/>
              <a:t> reservoir</a:t>
            </a:r>
            <a:r>
              <a:rPr lang="en"/>
              <a:t>. This flow is affected by the </a:t>
            </a:r>
            <a:r>
              <a:rPr lang="en"/>
              <a:t>converter </a:t>
            </a:r>
            <a:r>
              <a:rPr lang="en"/>
              <a:t>death rate per mole. Next, phosphorus in the dead organic state flows into the inorganic phosphorus reservoir which is affected by the </a:t>
            </a:r>
            <a:r>
              <a:rPr lang="en">
                <a:solidFill>
                  <a:schemeClr val="dk1"/>
                </a:solidFill>
              </a:rPr>
              <a:t>converter </a:t>
            </a:r>
            <a:r>
              <a:rPr lang="en"/>
              <a:t>decomposition rate per mole</a:t>
            </a:r>
            <a:r>
              <a:rPr lang="en"/>
              <a:t>. Then this flows back into the phosphorus in the living organic state reservoir, which is affected by the </a:t>
            </a:r>
            <a:r>
              <a:rPr lang="en">
                <a:solidFill>
                  <a:schemeClr val="dk1"/>
                </a:solidFill>
              </a:rPr>
              <a:t>converter uptake rate.</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d23294a91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d23294a91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Rachel voice-over</a:t>
            </a:r>
            <a:endParaRPr/>
          </a:p>
          <a:p>
            <a:pPr indent="0" lvl="0" marL="0" rtl="0" algn="l">
              <a:spcBef>
                <a:spcPts val="0"/>
              </a:spcBef>
              <a:spcAft>
                <a:spcPts val="0"/>
              </a:spcAft>
              <a:buNone/>
            </a:pPr>
            <a:r>
              <a:rPr lang="en"/>
              <a:t>[Explain how you developed your equations, including key assumptions.]</a:t>
            </a:r>
            <a:endParaRPr/>
          </a:p>
          <a:p>
            <a:pPr indent="0" lvl="0" marL="0" rtl="0" algn="l">
              <a:spcBef>
                <a:spcPts val="0"/>
              </a:spcBef>
              <a:spcAft>
                <a:spcPts val="0"/>
              </a:spcAft>
              <a:buNone/>
            </a:pPr>
            <a:r>
              <a:rPr lang="en"/>
              <a:t>Mini description to summarize the graphs above, how they were developed</a:t>
            </a:r>
            <a:endParaRPr/>
          </a:p>
          <a:p>
            <a:pPr indent="0" lvl="0" marL="0" rtl="0" algn="l">
              <a:spcBef>
                <a:spcPts val="0"/>
              </a:spcBef>
              <a:spcAft>
                <a:spcPts val="0"/>
              </a:spcAft>
              <a:buNone/>
            </a:pPr>
            <a:r>
              <a:rPr lang="en"/>
              <a:t>Any assumptions made</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d2c352134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d2c352134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Rachel voice-over</a:t>
            </a:r>
            <a:endParaRPr>
              <a:solidFill>
                <a:schemeClr val="dk1"/>
              </a:solidFill>
            </a:endParaRPr>
          </a:p>
          <a:p>
            <a:pPr indent="0" lvl="0" marL="0" rtl="0" algn="l">
              <a:spcBef>
                <a:spcPts val="0"/>
              </a:spcBef>
              <a:spcAft>
                <a:spcPts val="0"/>
              </a:spcAft>
              <a:buNone/>
            </a:pPr>
            <a:r>
              <a:rPr lang="en"/>
              <a:t>[Explain how you developed your equations, including key assumptions.]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2c352134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d2c352134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Rachel voice-over</a:t>
            </a:r>
            <a:endParaRPr>
              <a:solidFill>
                <a:schemeClr val="dk1"/>
              </a:solidFill>
            </a:endParaRPr>
          </a:p>
          <a:p>
            <a:pPr indent="0" lvl="0" marL="0" rtl="0" algn="l">
              <a:spcBef>
                <a:spcPts val="0"/>
              </a:spcBef>
              <a:spcAft>
                <a:spcPts val="0"/>
              </a:spcAft>
              <a:buNone/>
            </a:pPr>
            <a:r>
              <a:rPr lang="en"/>
              <a:t>[Explain how you developed your equations, including key assumptions.]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d23294a914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d23294a914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[Show the final set of equations and the parameter values used.]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rate of change in the reservoirs are dependant on their respective inflows and outflows.</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The rate of change in the inorganic phosphorus reservoir would be the inflow of decomposing dead organic phosphorus, subtracted by the outflow of the accumulating inorganic phosphorus</a:t>
            </a:r>
            <a:endParaRPr/>
          </a:p>
          <a:p>
            <a:pPr indent="-298450" lvl="0" marL="457200" rtl="0" algn="l">
              <a:spcBef>
                <a:spcPts val="0"/>
              </a:spcBef>
              <a:spcAft>
                <a:spcPts val="0"/>
              </a:spcAft>
              <a:buSzPts val="1100"/>
              <a:buAutoNum type="arabicPeriod"/>
            </a:pPr>
            <a:r>
              <a:rPr lang="en"/>
              <a:t>The rate of change in the living organic phosphorus reservoir would be the inflow of the growing organic phosphorus, subtracted by the outflow of the living phosphorus that have died.</a:t>
            </a:r>
            <a:endParaRPr/>
          </a:p>
          <a:p>
            <a:pPr indent="-298450" lvl="0" marL="457200" rtl="0" algn="l">
              <a:spcBef>
                <a:spcPts val="0"/>
              </a:spcBef>
              <a:spcAft>
                <a:spcPts val="0"/>
              </a:spcAft>
              <a:buSzPts val="1100"/>
              <a:buAutoNum type="arabicPeriod"/>
            </a:pPr>
            <a:r>
              <a:rPr lang="en"/>
              <a:t>next, we have the rate of change in of the dead organic phosphorus reservoir. This would be calculated by the inflow of dead organic phosphorus, subtracted by the outflow of decomposing dead organic phosphorus.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e87f2b172ff180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e87f2b172ff180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[Show the final set of equations and the parameter values used.]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data parameter values for the lake system were obtained from the field and are as follows:</a:t>
            </a:r>
            <a:endParaRPr/>
          </a:p>
          <a:p>
            <a:pPr indent="-298450" lvl="0" marL="457200" rtl="0" algn="l">
              <a:spcBef>
                <a:spcPts val="0"/>
              </a:spcBef>
              <a:spcAft>
                <a:spcPts val="0"/>
              </a:spcAft>
              <a:buSzPts val="1100"/>
              <a:buChar char="-"/>
            </a:pPr>
            <a:r>
              <a:rPr lang="en"/>
              <a:t>phosphorus in the living organic state starts at 0.2 moles, inorganic phosphorus starts at 1.0 moles, and phosphorus in the dead organic state starts at 0.1 moles.</a:t>
            </a:r>
            <a:endParaRPr/>
          </a:p>
          <a:p>
            <a:pPr indent="-298450" lvl="0" marL="457200" rtl="0" algn="l">
              <a:spcBef>
                <a:spcPts val="0"/>
              </a:spcBef>
              <a:spcAft>
                <a:spcPts val="0"/>
              </a:spcAft>
              <a:buSzPts val="1100"/>
              <a:buChar char="-"/>
            </a:pPr>
            <a:r>
              <a:rPr lang="en"/>
              <a:t> the death rate per mole was found to be 0.25 per year per mol, the decomposing rate per mole was 0.05 per year per mol, and the uptake rate was 2.48 per year per mol^2</a:t>
            </a:r>
            <a:endParaRPr/>
          </a:p>
          <a:p>
            <a:pPr indent="-298450" lvl="0" marL="457200" rtl="0" algn="l">
              <a:spcBef>
                <a:spcPts val="0"/>
              </a:spcBef>
              <a:spcAft>
                <a:spcPts val="0"/>
              </a:spcAft>
              <a:buSzPts val="1100"/>
              <a:buChar char="-"/>
            </a:pPr>
            <a:r>
              <a:rPr lang="en"/>
              <a:t>The time step used was 0.1 years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23294a91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d23294a91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figures, tables, and text (where possible) to summarize and interpret your results.</a:t>
            </a:r>
            <a:endParaRPr/>
          </a:p>
          <a:p>
            <a:pPr indent="0" lvl="0" marL="0" rtl="0" algn="l">
              <a:spcBef>
                <a:spcPts val="0"/>
              </a:spcBef>
              <a:spcAft>
                <a:spcPts val="0"/>
              </a:spcAft>
              <a:buNone/>
            </a:pPr>
            <a:r>
              <a:rPr lang="en"/>
              <a:t>Address the questions from Part 2 of the project.]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2c3521340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2c3521340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figures, tables, and text (where possible) to summarize and interpret your results.</a:t>
            </a:r>
            <a:endParaRPr/>
          </a:p>
          <a:p>
            <a:pPr indent="0" lvl="0" marL="0" rtl="0" algn="l">
              <a:spcBef>
                <a:spcPts val="0"/>
              </a:spcBef>
              <a:spcAft>
                <a:spcPts val="0"/>
              </a:spcAft>
              <a:buNone/>
            </a:pPr>
            <a:r>
              <a:rPr lang="en"/>
              <a:t>Address the questions from Part 2 of the project.]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2c3521340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d2c3521340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figures, tables, and text (where possible) to summarize and interpret your results.</a:t>
            </a:r>
            <a:endParaRPr/>
          </a:p>
          <a:p>
            <a:pPr indent="0" lvl="0" marL="0" rtl="0" algn="l">
              <a:spcBef>
                <a:spcPts val="0"/>
              </a:spcBef>
              <a:spcAft>
                <a:spcPts val="0"/>
              </a:spcAft>
              <a:buNone/>
            </a:pPr>
            <a:r>
              <a:rPr lang="en"/>
              <a:t>Address the questions from Part 2 of the project.]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2c3521340_3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d2c3521340_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figures, tables, and text (where possible) to summarize and interpret your results.</a:t>
            </a:r>
            <a:endParaRPr/>
          </a:p>
          <a:p>
            <a:pPr indent="0" lvl="0" marL="0" rtl="0" algn="l">
              <a:spcBef>
                <a:spcPts val="0"/>
              </a:spcBef>
              <a:spcAft>
                <a:spcPts val="0"/>
              </a:spcAft>
              <a:buNone/>
            </a:pPr>
            <a:r>
              <a:rPr lang="en"/>
              <a:t>Address the questions from Part 2 of the project.]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2c3521340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d2c3521340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figures, tables, and text (where possible) to summarize and interpret your results.</a:t>
            </a:r>
            <a:endParaRPr/>
          </a:p>
          <a:p>
            <a:pPr indent="0" lvl="0" marL="0" rtl="0" algn="l">
              <a:spcBef>
                <a:spcPts val="0"/>
              </a:spcBef>
              <a:spcAft>
                <a:spcPts val="0"/>
              </a:spcAft>
              <a:buNone/>
            </a:pPr>
            <a:r>
              <a:rPr lang="en"/>
              <a:t>Address the questions from Part 2 of the project.]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d2c3521340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d2c3521340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figures, tables, and text (where possible) to summarize and interpret your results.</a:t>
            </a:r>
            <a:endParaRPr/>
          </a:p>
          <a:p>
            <a:pPr indent="0" lvl="0" marL="0" rtl="0" algn="l">
              <a:spcBef>
                <a:spcPts val="0"/>
              </a:spcBef>
              <a:spcAft>
                <a:spcPts val="0"/>
              </a:spcAft>
              <a:buNone/>
            </a:pPr>
            <a:r>
              <a:rPr lang="en"/>
              <a:t>Address the questions from Part 2 of the project.]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d2c3521340_3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d2c3521340_3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figures, tables, and text (where possible) to summarize and interpret your results.</a:t>
            </a:r>
            <a:endParaRPr/>
          </a:p>
          <a:p>
            <a:pPr indent="0" lvl="0" marL="0" rtl="0" algn="l">
              <a:spcBef>
                <a:spcPts val="0"/>
              </a:spcBef>
              <a:spcAft>
                <a:spcPts val="0"/>
              </a:spcAft>
              <a:buNone/>
            </a:pPr>
            <a:r>
              <a:rPr lang="en"/>
              <a:t>Address the questions from Part 2 of the project.]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2c3521340_3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d2c3521340_3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figures, tables, and text (where possible) to summarize and interpret your results.</a:t>
            </a:r>
            <a:endParaRPr/>
          </a:p>
          <a:p>
            <a:pPr indent="0" lvl="0" marL="0" rtl="0" algn="l">
              <a:spcBef>
                <a:spcPts val="0"/>
              </a:spcBef>
              <a:spcAft>
                <a:spcPts val="0"/>
              </a:spcAft>
              <a:buNone/>
            </a:pPr>
            <a:r>
              <a:rPr lang="en"/>
              <a:t>Address the questions from Part 2 of the project.]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2c3521340_3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d2c3521340_3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figures, tables, and text (where possible) to summarize and interpret your results.</a:t>
            </a:r>
            <a:endParaRPr/>
          </a:p>
          <a:p>
            <a:pPr indent="0" lvl="0" marL="0" rtl="0" algn="l">
              <a:spcBef>
                <a:spcPts val="0"/>
              </a:spcBef>
              <a:spcAft>
                <a:spcPts val="0"/>
              </a:spcAft>
              <a:buNone/>
            </a:pPr>
            <a:r>
              <a:rPr lang="en"/>
              <a:t>Address the questions from Part 2 of the project.]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d2c3521340_3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d2c3521340_3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figures, tables, and text (where possible) to summarize and interpret your results.</a:t>
            </a:r>
            <a:endParaRPr/>
          </a:p>
          <a:p>
            <a:pPr indent="0" lvl="0" marL="0" rtl="0" algn="l">
              <a:spcBef>
                <a:spcPts val="0"/>
              </a:spcBef>
              <a:spcAft>
                <a:spcPts val="0"/>
              </a:spcAft>
              <a:buNone/>
            </a:pPr>
            <a:r>
              <a:rPr lang="en"/>
              <a:t>Address the questions from Part 2 of the project.]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d2c3521340_3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d2c3521340_3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figures, tables, and text (where possible) to summarize and interpret your results.</a:t>
            </a:r>
            <a:endParaRPr/>
          </a:p>
          <a:p>
            <a:pPr indent="0" lvl="0" marL="0" rtl="0" algn="l">
              <a:spcBef>
                <a:spcPts val="0"/>
              </a:spcBef>
              <a:spcAft>
                <a:spcPts val="0"/>
              </a:spcAft>
              <a:buNone/>
            </a:pPr>
            <a:r>
              <a:rPr lang="en"/>
              <a:t>Address the questions from Part 2 of the project.]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2c3521340_3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d2c3521340_3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figures, tables, and text (where possible) to summarize and interpret your results.</a:t>
            </a:r>
            <a:endParaRPr/>
          </a:p>
          <a:p>
            <a:pPr indent="0" lvl="0" marL="0" rtl="0" algn="l">
              <a:spcBef>
                <a:spcPts val="0"/>
              </a:spcBef>
              <a:spcAft>
                <a:spcPts val="0"/>
              </a:spcAft>
              <a:buNone/>
            </a:pPr>
            <a:r>
              <a:rPr lang="en"/>
              <a:t>Address the questions from Part 2 of the project.]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d2c3521340_3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d2c3521340_3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figures, tables, and text (where possible) to summarize and interpret your results.</a:t>
            </a:r>
            <a:endParaRPr/>
          </a:p>
          <a:p>
            <a:pPr indent="0" lvl="0" marL="0" rtl="0" algn="l">
              <a:spcBef>
                <a:spcPts val="0"/>
              </a:spcBef>
              <a:spcAft>
                <a:spcPts val="0"/>
              </a:spcAft>
              <a:buNone/>
            </a:pPr>
            <a:r>
              <a:rPr lang="en"/>
              <a:t>Address the questions from Part 2 of the project.]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d2c3521340_3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d2c3521340_3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figures, tables, and text (where possible) to summarize and interpret your results.</a:t>
            </a:r>
            <a:endParaRPr/>
          </a:p>
          <a:p>
            <a:pPr indent="0" lvl="0" marL="0" rtl="0" algn="l">
              <a:spcBef>
                <a:spcPts val="0"/>
              </a:spcBef>
              <a:spcAft>
                <a:spcPts val="0"/>
              </a:spcAft>
              <a:buNone/>
            </a:pPr>
            <a:r>
              <a:rPr lang="en"/>
              <a:t>Address the questions from Part 2 of the project.]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d2c3521340_3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d2c3521340_3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[Provide answers to your research questions.</a:t>
            </a:r>
            <a:endParaRPr/>
          </a:p>
          <a:p>
            <a:pPr indent="0" lvl="0" marL="0" rtl="0" algn="l">
              <a:spcBef>
                <a:spcPts val="0"/>
              </a:spcBef>
              <a:spcAft>
                <a:spcPts val="0"/>
              </a:spcAft>
              <a:buNone/>
            </a:pPr>
            <a:r>
              <a:rPr lang="en"/>
              <a:t>Discuss the successes and limitations of your model.</a:t>
            </a:r>
            <a:endParaRPr/>
          </a:p>
          <a:p>
            <a:pPr indent="0" lvl="0" marL="0" rtl="0" algn="l">
              <a:spcBef>
                <a:spcPts val="0"/>
              </a:spcBef>
              <a:spcAft>
                <a:spcPts val="0"/>
              </a:spcAft>
              <a:buNone/>
            </a:pPr>
            <a:r>
              <a:rPr lang="en"/>
              <a:t>Consider the broader application of your modeling output.]</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6a768b184f03262d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6a768b184f03262d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[Provide answers to your research questions.</a:t>
            </a:r>
            <a:endParaRPr/>
          </a:p>
          <a:p>
            <a:pPr indent="0" lvl="0" marL="0" rtl="0" algn="l">
              <a:spcBef>
                <a:spcPts val="0"/>
              </a:spcBef>
              <a:spcAft>
                <a:spcPts val="0"/>
              </a:spcAft>
              <a:buNone/>
            </a:pPr>
            <a:r>
              <a:rPr lang="en"/>
              <a:t>Discuss the successes and limitations of your model.</a:t>
            </a:r>
            <a:endParaRPr/>
          </a:p>
          <a:p>
            <a:pPr indent="0" lvl="0" marL="0" rtl="0" algn="l">
              <a:spcBef>
                <a:spcPts val="0"/>
              </a:spcBef>
              <a:spcAft>
                <a:spcPts val="0"/>
              </a:spcAft>
              <a:buNone/>
            </a:pPr>
            <a:r>
              <a:rPr lang="en"/>
              <a:t>Consider the broader application of your modeling output.]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success of our model is that it connects the three phosphorus reservoirs and provides rough estimates for how each of them change over time. </a:t>
            </a:r>
            <a:endParaRPr/>
          </a:p>
          <a:p>
            <a:pPr indent="0" lvl="0" marL="0" rtl="0" algn="l">
              <a:spcBef>
                <a:spcPts val="0"/>
              </a:spcBef>
              <a:spcAft>
                <a:spcPts val="0"/>
              </a:spcAft>
              <a:buNone/>
            </a:pPr>
            <a:r>
              <a:rPr lang="en"/>
              <a:t>However, our model is limited to considering only the phosphorus in the lake ecosystem. In reality, other nutrients or factors likely also have an impact and could be affected by industrial waste.</a:t>
            </a:r>
            <a:endParaRPr/>
          </a:p>
          <a:p>
            <a:pPr indent="0" lvl="0" marL="0" rtl="0" algn="l">
              <a:spcBef>
                <a:spcPts val="0"/>
              </a:spcBef>
              <a:spcAft>
                <a:spcPts val="0"/>
              </a:spcAft>
              <a:buNone/>
            </a:pPr>
            <a:r>
              <a:rPr lang="en"/>
              <a:t>In terms of broader applications, our results support informative construction project planning. It conveys the importance of understanding the rounded implications that infrastructure development can have - not only on humans, but to nutrient availability for aquatic ecosystems that in turn support our food supply and production</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23294a91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d23294a91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table or summary of each team member’s contributions to the project.]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agriculture.canada.ca/en/agricultural-production/water/water-contamination-phosphoru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2.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3.png"/><Relationship Id="rId5" Type="http://schemas.openxmlformats.org/officeDocument/2006/relationships/image" Target="../media/image17.png"/><Relationship Id="rId6"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3373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latin typeface="Amatic SC"/>
                <a:ea typeface="Amatic SC"/>
                <a:cs typeface="Amatic SC"/>
                <a:sym typeface="Amatic SC"/>
              </a:rPr>
              <a:t>Impact of Industrial Waste on A Lake Ecosystem</a:t>
            </a:r>
            <a:endParaRPr b="1">
              <a:latin typeface="Amatic SC"/>
              <a:ea typeface="Amatic SC"/>
              <a:cs typeface="Amatic SC"/>
              <a:sym typeface="Amatic SC"/>
            </a:endParaRPr>
          </a:p>
        </p:txBody>
      </p:sp>
      <p:sp>
        <p:nvSpPr>
          <p:cNvPr id="55" name="Google Shape;55;p13"/>
          <p:cNvSpPr txBox="1"/>
          <p:nvPr>
            <p:ph idx="1" type="subTitle"/>
          </p:nvPr>
        </p:nvSpPr>
        <p:spPr>
          <a:xfrm>
            <a:off x="446425" y="1497700"/>
            <a:ext cx="8520600" cy="7926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605"/>
              <a:buNone/>
            </a:pPr>
            <a:r>
              <a:rPr b="1" lang="en" sz="2840">
                <a:solidFill>
                  <a:srgbClr val="000000"/>
                </a:solidFill>
                <a:latin typeface="Amatic SC"/>
                <a:ea typeface="Amatic SC"/>
                <a:cs typeface="Amatic SC"/>
                <a:sym typeface="Amatic SC"/>
              </a:rPr>
              <a:t>Conceptual and Mathematical MODELLING of phosphorous waste</a:t>
            </a:r>
            <a:endParaRPr b="1" sz="2840">
              <a:solidFill>
                <a:srgbClr val="000000"/>
              </a:solidFill>
              <a:latin typeface="Amatic SC"/>
              <a:ea typeface="Amatic SC"/>
              <a:cs typeface="Amatic SC"/>
              <a:sym typeface="Amatic SC"/>
            </a:endParaRPr>
          </a:p>
          <a:p>
            <a:pPr indent="0" lvl="0" marL="0" rtl="0" algn="ctr">
              <a:lnSpc>
                <a:spcPct val="80000"/>
              </a:lnSpc>
              <a:spcBef>
                <a:spcPts val="0"/>
              </a:spcBef>
              <a:spcAft>
                <a:spcPts val="0"/>
              </a:spcAft>
              <a:buSzPts val="605"/>
              <a:buNone/>
            </a:pPr>
            <a:r>
              <a:t/>
            </a:r>
            <a:endParaRPr sz="2840">
              <a:latin typeface="Amatic SC"/>
              <a:ea typeface="Amatic SC"/>
              <a:cs typeface="Amatic SC"/>
              <a:sym typeface="Amatic SC"/>
            </a:endParaRPr>
          </a:p>
          <a:p>
            <a:pPr indent="0" lvl="0" marL="0" rtl="0" algn="ctr">
              <a:lnSpc>
                <a:spcPct val="80000"/>
              </a:lnSpc>
              <a:spcBef>
                <a:spcPts val="0"/>
              </a:spcBef>
              <a:spcAft>
                <a:spcPts val="0"/>
              </a:spcAft>
              <a:buSzPts val="605"/>
              <a:buNone/>
            </a:pPr>
            <a:r>
              <a:t/>
            </a:r>
            <a:endParaRPr sz="2840">
              <a:latin typeface="Amatic SC"/>
              <a:ea typeface="Amatic SC"/>
              <a:cs typeface="Amatic SC"/>
              <a:sym typeface="Amatic SC"/>
            </a:endParaRPr>
          </a:p>
        </p:txBody>
      </p:sp>
      <p:sp>
        <p:nvSpPr>
          <p:cNvPr id="56" name="Google Shape;56;p13"/>
          <p:cNvSpPr txBox="1"/>
          <p:nvPr/>
        </p:nvSpPr>
        <p:spPr>
          <a:xfrm>
            <a:off x="699750" y="4386525"/>
            <a:ext cx="7744500" cy="4557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Clr>
                <a:schemeClr val="dk1"/>
              </a:buClr>
              <a:buSzPts val="605"/>
              <a:buFont typeface="Arial"/>
              <a:buNone/>
            </a:pPr>
            <a:r>
              <a:rPr lang="en" sz="2200">
                <a:solidFill>
                  <a:schemeClr val="lt1"/>
                </a:solidFill>
                <a:latin typeface="Amatic SC"/>
                <a:ea typeface="Amatic SC"/>
                <a:cs typeface="Amatic SC"/>
                <a:sym typeface="Amatic SC"/>
              </a:rPr>
              <a:t>Alexis Kuerbig, Rachel Leung, Niko Vahlas, Cindy Wong, Ruoxuan Li</a:t>
            </a:r>
            <a:endParaRPr sz="2200">
              <a:solidFill>
                <a:schemeClr val="lt1"/>
              </a:solidFill>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60" name="Shape 60"/>
        <p:cNvGrpSpPr/>
        <p:nvPr/>
      </p:nvGrpSpPr>
      <p:grpSpPr>
        <a:xfrm>
          <a:off x="0" y="0"/>
          <a:ext cx="0" cy="0"/>
          <a:chOff x="0" y="0"/>
          <a:chExt cx="0" cy="0"/>
        </a:xfrm>
      </p:grpSpPr>
      <p:sp>
        <p:nvSpPr>
          <p:cNvPr id="61" name="Google Shape;61;p14"/>
          <p:cNvSpPr txBox="1"/>
          <p:nvPr>
            <p:ph type="title"/>
          </p:nvPr>
        </p:nvSpPr>
        <p:spPr>
          <a:xfrm>
            <a:off x="311700" y="859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320">
                <a:latin typeface="Amatic SC"/>
                <a:ea typeface="Amatic SC"/>
                <a:cs typeface="Amatic SC"/>
                <a:sym typeface="Amatic SC"/>
              </a:rPr>
              <a:t>Introduction</a:t>
            </a:r>
            <a:endParaRPr b="1" sz="3320">
              <a:latin typeface="Amatic SC"/>
              <a:ea typeface="Amatic SC"/>
              <a:cs typeface="Amatic SC"/>
              <a:sym typeface="Amatic SC"/>
            </a:endParaRPr>
          </a:p>
        </p:txBody>
      </p:sp>
      <p:sp>
        <p:nvSpPr>
          <p:cNvPr id="62" name="Google Shape;62;p14"/>
          <p:cNvSpPr txBox="1"/>
          <p:nvPr>
            <p:ph idx="1" type="body"/>
          </p:nvPr>
        </p:nvSpPr>
        <p:spPr>
          <a:xfrm>
            <a:off x="25350" y="658650"/>
            <a:ext cx="9093300" cy="3906300"/>
          </a:xfrm>
          <a:prstGeom prst="rect">
            <a:avLst/>
          </a:prstGeom>
        </p:spPr>
        <p:txBody>
          <a:bodyPr anchorCtr="0" anchor="t" bIns="91425" lIns="91425" spcFirstLastPara="1" rIns="91425" wrap="square" tIns="91425">
            <a:noAutofit/>
          </a:bodyPr>
          <a:lstStyle/>
          <a:p>
            <a:pPr indent="-321310" lvl="0" marL="457200" rtl="0" algn="l">
              <a:lnSpc>
                <a:spcPct val="95000"/>
              </a:lnSpc>
              <a:spcBef>
                <a:spcPts val="0"/>
              </a:spcBef>
              <a:spcAft>
                <a:spcPts val="0"/>
              </a:spcAft>
              <a:buClr>
                <a:schemeClr val="dk1"/>
              </a:buClr>
              <a:buSzPts val="1460"/>
              <a:buFont typeface="Calibri"/>
              <a:buChar char="-"/>
            </a:pPr>
            <a:r>
              <a:rPr lang="en" sz="1460" u="sng">
                <a:solidFill>
                  <a:schemeClr val="dk1"/>
                </a:solidFill>
                <a:latin typeface="Calibri"/>
                <a:ea typeface="Calibri"/>
                <a:cs typeface="Calibri"/>
                <a:sym typeface="Calibri"/>
              </a:rPr>
              <a:t>PHOSPHORUS</a:t>
            </a:r>
            <a:r>
              <a:rPr lang="en" sz="1460">
                <a:solidFill>
                  <a:schemeClr val="dk1"/>
                </a:solidFill>
                <a:latin typeface="Calibri"/>
                <a:ea typeface="Calibri"/>
                <a:cs typeface="Calibri"/>
                <a:sym typeface="Calibri"/>
              </a:rPr>
              <a:t>: Key nutrient for crops, growth enhancement</a:t>
            </a:r>
            <a:endParaRPr sz="1460">
              <a:solidFill>
                <a:schemeClr val="dk1"/>
              </a:solidFill>
              <a:latin typeface="Calibri"/>
              <a:ea typeface="Calibri"/>
              <a:cs typeface="Calibri"/>
              <a:sym typeface="Calibri"/>
            </a:endParaRPr>
          </a:p>
          <a:p>
            <a:pPr indent="0" lvl="0" marL="0" rtl="0" algn="l">
              <a:lnSpc>
                <a:spcPct val="95000"/>
              </a:lnSpc>
              <a:spcBef>
                <a:spcPts val="1200"/>
              </a:spcBef>
              <a:spcAft>
                <a:spcPts val="0"/>
              </a:spcAft>
              <a:buSzPts val="770"/>
              <a:buNone/>
            </a:pPr>
            <a:r>
              <a:t/>
            </a:r>
            <a:endParaRPr sz="1460">
              <a:solidFill>
                <a:schemeClr val="dk1"/>
              </a:solidFill>
              <a:latin typeface="Calibri"/>
              <a:ea typeface="Calibri"/>
              <a:cs typeface="Calibri"/>
              <a:sym typeface="Calibri"/>
            </a:endParaRPr>
          </a:p>
          <a:p>
            <a:pPr indent="-321310" lvl="0" marL="457200" rtl="0" algn="l">
              <a:lnSpc>
                <a:spcPct val="95000"/>
              </a:lnSpc>
              <a:spcBef>
                <a:spcPts val="1200"/>
              </a:spcBef>
              <a:spcAft>
                <a:spcPts val="0"/>
              </a:spcAft>
              <a:buClr>
                <a:schemeClr val="dk1"/>
              </a:buClr>
              <a:buSzPts val="1460"/>
              <a:buFont typeface="Calibri"/>
              <a:buChar char="-"/>
            </a:pPr>
            <a:r>
              <a:rPr lang="en" sz="1460">
                <a:solidFill>
                  <a:schemeClr val="dk1"/>
                </a:solidFill>
                <a:latin typeface="Calibri"/>
                <a:ea typeface="Calibri"/>
                <a:cs typeface="Calibri"/>
                <a:sym typeface="Calibri"/>
              </a:rPr>
              <a:t>Runoff into waterways introduces </a:t>
            </a:r>
            <a:r>
              <a:rPr lang="en" sz="1460">
                <a:solidFill>
                  <a:schemeClr val="dk1"/>
                </a:solidFill>
                <a:latin typeface="Calibri"/>
                <a:ea typeface="Calibri"/>
                <a:cs typeface="Calibri"/>
                <a:sym typeface="Calibri"/>
              </a:rPr>
              <a:t>phosphorus</a:t>
            </a:r>
            <a:r>
              <a:rPr lang="en" sz="1460">
                <a:solidFill>
                  <a:schemeClr val="dk1"/>
                </a:solidFill>
                <a:latin typeface="Calibri"/>
                <a:ea typeface="Calibri"/>
                <a:cs typeface="Calibri"/>
                <a:sym typeface="Calibri"/>
              </a:rPr>
              <a:t> into aqueous </a:t>
            </a:r>
            <a:r>
              <a:rPr lang="en" sz="1460">
                <a:solidFill>
                  <a:schemeClr val="dk1"/>
                </a:solidFill>
                <a:latin typeface="Calibri"/>
                <a:ea typeface="Calibri"/>
                <a:cs typeface="Calibri"/>
                <a:sym typeface="Calibri"/>
              </a:rPr>
              <a:t>ecosystems</a:t>
            </a:r>
            <a:endParaRPr sz="1460">
              <a:solidFill>
                <a:schemeClr val="dk1"/>
              </a:solidFill>
              <a:latin typeface="Calibri"/>
              <a:ea typeface="Calibri"/>
              <a:cs typeface="Calibri"/>
              <a:sym typeface="Calibri"/>
            </a:endParaRPr>
          </a:p>
          <a:p>
            <a:pPr indent="-303530" lvl="1" marL="914400" rtl="0" algn="l">
              <a:lnSpc>
                <a:spcPct val="95000"/>
              </a:lnSpc>
              <a:spcBef>
                <a:spcPts val="0"/>
              </a:spcBef>
              <a:spcAft>
                <a:spcPts val="0"/>
              </a:spcAft>
              <a:buClr>
                <a:schemeClr val="dk1"/>
              </a:buClr>
              <a:buSzPts val="1180"/>
              <a:buFont typeface="Calibri"/>
              <a:buChar char="-"/>
            </a:pPr>
            <a:r>
              <a:rPr lang="en" sz="1180">
                <a:solidFill>
                  <a:schemeClr val="dk1"/>
                </a:solidFill>
                <a:latin typeface="Calibri"/>
                <a:ea typeface="Calibri"/>
                <a:cs typeface="Calibri"/>
                <a:sym typeface="Calibri"/>
              </a:rPr>
              <a:t>Phosphorus causing </a:t>
            </a:r>
            <a:r>
              <a:rPr b="1" lang="en" sz="1180" u="sng">
                <a:solidFill>
                  <a:schemeClr val="dk1"/>
                </a:solidFill>
                <a:latin typeface="Calibri"/>
                <a:ea typeface="Calibri"/>
                <a:cs typeface="Calibri"/>
                <a:sym typeface="Calibri"/>
              </a:rPr>
              <a:t>enhanced algae growth = reduced oxygen + death of biotic systems</a:t>
            </a:r>
            <a:r>
              <a:rPr lang="en" sz="1180">
                <a:solidFill>
                  <a:schemeClr val="dk1"/>
                </a:solidFill>
                <a:latin typeface="Calibri"/>
                <a:ea typeface="Calibri"/>
                <a:cs typeface="Calibri"/>
                <a:sym typeface="Calibri"/>
              </a:rPr>
              <a:t> </a:t>
            </a:r>
            <a:endParaRPr sz="1180">
              <a:solidFill>
                <a:schemeClr val="dk1"/>
              </a:solidFill>
              <a:latin typeface="Calibri"/>
              <a:ea typeface="Calibri"/>
              <a:cs typeface="Calibri"/>
              <a:sym typeface="Calibri"/>
            </a:endParaRPr>
          </a:p>
          <a:p>
            <a:pPr indent="-303530" lvl="1" marL="914400" rtl="0" algn="l">
              <a:lnSpc>
                <a:spcPct val="95000"/>
              </a:lnSpc>
              <a:spcBef>
                <a:spcPts val="0"/>
              </a:spcBef>
              <a:spcAft>
                <a:spcPts val="0"/>
              </a:spcAft>
              <a:buClr>
                <a:schemeClr val="dk1"/>
              </a:buClr>
              <a:buSzPts val="1180"/>
              <a:buFont typeface="Calibri"/>
              <a:buChar char="-"/>
            </a:pPr>
            <a:r>
              <a:rPr lang="en" sz="1180">
                <a:solidFill>
                  <a:schemeClr val="dk1"/>
                </a:solidFill>
                <a:latin typeface="Calibri"/>
                <a:ea typeface="Calibri"/>
                <a:cs typeface="Calibri"/>
                <a:sym typeface="Calibri"/>
              </a:rPr>
              <a:t>Hazardous to aquatic life, risk to human health → drinking water &amp; food sources</a:t>
            </a:r>
            <a:endParaRPr sz="1180">
              <a:solidFill>
                <a:schemeClr val="dk1"/>
              </a:solidFill>
              <a:latin typeface="Calibri"/>
              <a:ea typeface="Calibri"/>
              <a:cs typeface="Calibri"/>
              <a:sym typeface="Calibri"/>
            </a:endParaRPr>
          </a:p>
          <a:p>
            <a:pPr indent="0" lvl="0" marL="0" rtl="0" algn="l">
              <a:lnSpc>
                <a:spcPct val="95000"/>
              </a:lnSpc>
              <a:spcBef>
                <a:spcPts val="1200"/>
              </a:spcBef>
              <a:spcAft>
                <a:spcPts val="0"/>
              </a:spcAft>
              <a:buSzPts val="770"/>
              <a:buNone/>
            </a:pPr>
            <a:r>
              <a:t/>
            </a:r>
            <a:endParaRPr sz="1460">
              <a:solidFill>
                <a:schemeClr val="dk1"/>
              </a:solidFill>
              <a:latin typeface="Calibri"/>
              <a:ea typeface="Calibri"/>
              <a:cs typeface="Calibri"/>
              <a:sym typeface="Calibri"/>
            </a:endParaRPr>
          </a:p>
          <a:p>
            <a:pPr indent="-321310" lvl="0" marL="457200" rtl="0" algn="l">
              <a:lnSpc>
                <a:spcPct val="95000"/>
              </a:lnSpc>
              <a:spcBef>
                <a:spcPts val="1200"/>
              </a:spcBef>
              <a:spcAft>
                <a:spcPts val="0"/>
              </a:spcAft>
              <a:buClr>
                <a:schemeClr val="dk1"/>
              </a:buClr>
              <a:buSzPts val="1460"/>
              <a:buFont typeface="Calibri"/>
              <a:buChar char="-"/>
            </a:pPr>
            <a:r>
              <a:rPr lang="en" sz="1460">
                <a:solidFill>
                  <a:schemeClr val="dk1"/>
                </a:solidFill>
                <a:latin typeface="Calibri"/>
                <a:ea typeface="Calibri"/>
                <a:cs typeface="Calibri"/>
                <a:sym typeface="Calibri"/>
              </a:rPr>
              <a:t>Degree of risk changes over time with respect to total phosphorus content in (aqueous) </a:t>
            </a:r>
            <a:r>
              <a:rPr lang="en" sz="1460">
                <a:solidFill>
                  <a:schemeClr val="dk1"/>
                </a:solidFill>
                <a:latin typeface="Calibri"/>
                <a:ea typeface="Calibri"/>
                <a:cs typeface="Calibri"/>
                <a:sym typeface="Calibri"/>
              </a:rPr>
              <a:t>reservoir</a:t>
            </a:r>
            <a:endParaRPr sz="1460">
              <a:solidFill>
                <a:schemeClr val="dk1"/>
              </a:solidFill>
              <a:latin typeface="Calibri"/>
              <a:ea typeface="Calibri"/>
              <a:cs typeface="Calibri"/>
              <a:sym typeface="Calibri"/>
            </a:endParaRPr>
          </a:p>
          <a:p>
            <a:pPr indent="-303530" lvl="1" marL="914400" rtl="0" algn="l">
              <a:lnSpc>
                <a:spcPct val="95000"/>
              </a:lnSpc>
              <a:spcBef>
                <a:spcPts val="0"/>
              </a:spcBef>
              <a:spcAft>
                <a:spcPts val="0"/>
              </a:spcAft>
              <a:buClr>
                <a:schemeClr val="dk1"/>
              </a:buClr>
              <a:buSzPts val="1180"/>
              <a:buFont typeface="Calibri"/>
              <a:buChar char="-"/>
            </a:pPr>
            <a:r>
              <a:rPr b="1" lang="en" sz="1180" u="sng">
                <a:solidFill>
                  <a:schemeClr val="dk1"/>
                </a:solidFill>
                <a:latin typeface="Calibri"/>
                <a:ea typeface="Calibri"/>
                <a:cs typeface="Calibri"/>
                <a:sym typeface="Calibri"/>
              </a:rPr>
              <a:t>Consumer demand</a:t>
            </a:r>
            <a:r>
              <a:rPr lang="en" sz="1180">
                <a:solidFill>
                  <a:schemeClr val="dk1"/>
                </a:solidFill>
                <a:latin typeface="Calibri"/>
                <a:ea typeface="Calibri"/>
                <a:cs typeface="Calibri"/>
                <a:sym typeface="Calibri"/>
              </a:rPr>
              <a:t> for industrial product: Phosphorus waste enters aqueous ecosystems → harms aquatic life</a:t>
            </a:r>
            <a:endParaRPr sz="1180">
              <a:solidFill>
                <a:schemeClr val="dk1"/>
              </a:solidFill>
              <a:latin typeface="Calibri"/>
              <a:ea typeface="Calibri"/>
              <a:cs typeface="Calibri"/>
              <a:sym typeface="Calibri"/>
            </a:endParaRPr>
          </a:p>
          <a:p>
            <a:pPr indent="-303530" lvl="1" marL="914400" rtl="0" algn="l">
              <a:lnSpc>
                <a:spcPct val="95000"/>
              </a:lnSpc>
              <a:spcBef>
                <a:spcPts val="0"/>
              </a:spcBef>
              <a:spcAft>
                <a:spcPts val="0"/>
              </a:spcAft>
              <a:buClr>
                <a:schemeClr val="dk1"/>
              </a:buClr>
              <a:buSzPts val="1180"/>
              <a:buFont typeface="Calibri"/>
              <a:buChar char="-"/>
            </a:pPr>
            <a:r>
              <a:rPr b="1" lang="en" sz="1180" u="sng">
                <a:solidFill>
                  <a:schemeClr val="dk1"/>
                </a:solidFill>
                <a:latin typeface="Calibri"/>
                <a:ea typeface="Calibri"/>
                <a:cs typeface="Calibri"/>
                <a:sym typeface="Calibri"/>
              </a:rPr>
              <a:t>Construction projects</a:t>
            </a:r>
            <a:r>
              <a:rPr lang="en" sz="1180">
                <a:solidFill>
                  <a:schemeClr val="dk1"/>
                </a:solidFill>
                <a:latin typeface="Calibri"/>
                <a:ea typeface="Calibri"/>
                <a:cs typeface="Calibri"/>
                <a:sym typeface="Calibri"/>
              </a:rPr>
              <a:t> increase risk of phosphorus runoff into local waterways and introduce increased risk to ambient aquatic life</a:t>
            </a:r>
            <a:endParaRPr sz="1180">
              <a:solidFill>
                <a:schemeClr val="dk1"/>
              </a:solidFill>
              <a:latin typeface="Calibri"/>
              <a:ea typeface="Calibri"/>
              <a:cs typeface="Calibri"/>
              <a:sym typeface="Calibri"/>
            </a:endParaRPr>
          </a:p>
          <a:p>
            <a:pPr indent="0" lvl="0" marL="0" rtl="0" algn="l">
              <a:lnSpc>
                <a:spcPct val="95000"/>
              </a:lnSpc>
              <a:spcBef>
                <a:spcPts val="1200"/>
              </a:spcBef>
              <a:spcAft>
                <a:spcPts val="0"/>
              </a:spcAft>
              <a:buSzPts val="770"/>
              <a:buNone/>
            </a:pPr>
            <a:r>
              <a:rPr i="1" lang="en" sz="1460" u="sng">
                <a:solidFill>
                  <a:schemeClr val="dk1"/>
                </a:solidFill>
                <a:latin typeface="Calibri"/>
                <a:ea typeface="Calibri"/>
                <a:cs typeface="Calibri"/>
                <a:sym typeface="Calibri"/>
              </a:rPr>
              <a:t>QUESTIONS</a:t>
            </a:r>
            <a:r>
              <a:rPr lang="en" sz="1460">
                <a:solidFill>
                  <a:schemeClr val="dk1"/>
                </a:solidFill>
                <a:latin typeface="Calibri"/>
                <a:ea typeface="Calibri"/>
                <a:cs typeface="Calibri"/>
                <a:sym typeface="Calibri"/>
              </a:rPr>
              <a:t>:</a:t>
            </a:r>
            <a:endParaRPr sz="1460">
              <a:solidFill>
                <a:schemeClr val="dk1"/>
              </a:solidFill>
              <a:latin typeface="Calibri"/>
              <a:ea typeface="Calibri"/>
              <a:cs typeface="Calibri"/>
              <a:sym typeface="Calibri"/>
            </a:endParaRPr>
          </a:p>
          <a:p>
            <a:pPr indent="0" lvl="0" marL="0" rtl="0" algn="l">
              <a:lnSpc>
                <a:spcPct val="95000"/>
              </a:lnSpc>
              <a:spcBef>
                <a:spcPts val="1200"/>
              </a:spcBef>
              <a:spcAft>
                <a:spcPts val="0"/>
              </a:spcAft>
              <a:buSzPts val="770"/>
              <a:buNone/>
            </a:pPr>
            <a:r>
              <a:rPr lang="en" sz="1460">
                <a:solidFill>
                  <a:schemeClr val="dk1"/>
                </a:solidFill>
                <a:latin typeface="Calibri"/>
                <a:ea typeface="Calibri"/>
                <a:cs typeface="Calibri"/>
                <a:sym typeface="Calibri"/>
              </a:rPr>
              <a:t>1. How can the flow of phosphorus create implications on aquatic phosphorus cycles?</a:t>
            </a:r>
            <a:endParaRPr sz="1460">
              <a:solidFill>
                <a:schemeClr val="dk1"/>
              </a:solidFill>
              <a:latin typeface="Calibri"/>
              <a:ea typeface="Calibri"/>
              <a:cs typeface="Calibri"/>
              <a:sym typeface="Calibri"/>
            </a:endParaRPr>
          </a:p>
          <a:p>
            <a:pPr indent="0" lvl="0" marL="0" rtl="0" algn="l">
              <a:lnSpc>
                <a:spcPct val="95000"/>
              </a:lnSpc>
              <a:spcBef>
                <a:spcPts val="1200"/>
              </a:spcBef>
              <a:spcAft>
                <a:spcPts val="0"/>
              </a:spcAft>
              <a:buSzPts val="770"/>
              <a:buNone/>
            </a:pPr>
            <a:r>
              <a:rPr lang="en" sz="1460">
                <a:solidFill>
                  <a:schemeClr val="dk1"/>
                </a:solidFill>
                <a:latin typeface="Calibri"/>
                <a:ea typeface="Calibri"/>
                <a:cs typeface="Calibri"/>
                <a:sym typeface="Calibri"/>
              </a:rPr>
              <a:t>2. How can modelled changes to phosphorus cycles, and associated changes to ecosystem and aquatic life, inform future construction projects and planning</a:t>
            </a:r>
            <a:r>
              <a:rPr lang="en" sz="1460">
                <a:solidFill>
                  <a:schemeClr val="dk1"/>
                </a:solidFill>
                <a:latin typeface="Calibri"/>
                <a:ea typeface="Calibri"/>
                <a:cs typeface="Calibri"/>
                <a:sym typeface="Calibri"/>
              </a:rPr>
              <a:t>?</a:t>
            </a:r>
            <a:endParaRPr sz="1460">
              <a:solidFill>
                <a:schemeClr val="dk1"/>
              </a:solidFill>
              <a:latin typeface="Calibri"/>
              <a:ea typeface="Calibri"/>
              <a:cs typeface="Calibri"/>
              <a:sym typeface="Calibri"/>
            </a:endParaRPr>
          </a:p>
          <a:p>
            <a:pPr indent="-308610" lvl="0" marL="457200" rtl="0" algn="l">
              <a:lnSpc>
                <a:spcPct val="95000"/>
              </a:lnSpc>
              <a:spcBef>
                <a:spcPts val="1200"/>
              </a:spcBef>
              <a:spcAft>
                <a:spcPts val="0"/>
              </a:spcAft>
              <a:buClr>
                <a:schemeClr val="dk1"/>
              </a:buClr>
              <a:buSzPts val="1260"/>
              <a:buFont typeface="Calibri"/>
              <a:buChar char="-"/>
            </a:pPr>
            <a:r>
              <a:rPr lang="en" sz="1260">
                <a:solidFill>
                  <a:schemeClr val="dk1"/>
                </a:solidFill>
                <a:latin typeface="Calibri"/>
                <a:ea typeface="Calibri"/>
                <a:cs typeface="Calibri"/>
                <a:sym typeface="Calibri"/>
              </a:rPr>
              <a:t>Assume phosphorus is the only factor affecting algae growth– only contribution to changes in aqueous phosphorus cycle</a:t>
            </a:r>
            <a:endParaRPr sz="1260">
              <a:solidFill>
                <a:schemeClr val="dk1"/>
              </a:solidFill>
              <a:latin typeface="Calibri"/>
              <a:ea typeface="Calibri"/>
              <a:cs typeface="Calibri"/>
              <a:sym typeface="Calibri"/>
            </a:endParaRPr>
          </a:p>
        </p:txBody>
      </p:sp>
      <p:sp>
        <p:nvSpPr>
          <p:cNvPr id="63" name="Google Shape;63;p14"/>
          <p:cNvSpPr/>
          <p:nvPr/>
        </p:nvSpPr>
        <p:spPr>
          <a:xfrm>
            <a:off x="475525" y="1727425"/>
            <a:ext cx="214500" cy="242700"/>
          </a:xfrm>
          <a:prstGeom prst="star4">
            <a:avLst>
              <a:gd fmla="val 1250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14"/>
          <p:cNvSpPr txBox="1"/>
          <p:nvPr/>
        </p:nvSpPr>
        <p:spPr>
          <a:xfrm>
            <a:off x="436700" y="4703625"/>
            <a:ext cx="7948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3"/>
              </a:rPr>
              <a:t>https://agriculture.canada.ca/en/agricultural-production/water/water-contamination-phosphorus</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68" name="Shape 68"/>
        <p:cNvGrpSpPr/>
        <p:nvPr/>
      </p:nvGrpSpPr>
      <p:grpSpPr>
        <a:xfrm>
          <a:off x="0" y="0"/>
          <a:ext cx="0" cy="0"/>
          <a:chOff x="0" y="0"/>
          <a:chExt cx="0" cy="0"/>
        </a:xfrm>
      </p:grpSpPr>
      <p:sp>
        <p:nvSpPr>
          <p:cNvPr id="69" name="Google Shape;69;p15"/>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300">
                <a:latin typeface="Amatic SC"/>
                <a:ea typeface="Amatic SC"/>
                <a:cs typeface="Amatic SC"/>
                <a:sym typeface="Amatic SC"/>
              </a:rPr>
              <a:t>Model Description</a:t>
            </a:r>
            <a:endParaRPr b="1" sz="3300">
              <a:latin typeface="Amatic SC"/>
              <a:ea typeface="Amatic SC"/>
              <a:cs typeface="Amatic SC"/>
              <a:sym typeface="Amatic SC"/>
            </a:endParaRPr>
          </a:p>
        </p:txBody>
      </p:sp>
      <p:sp>
        <p:nvSpPr>
          <p:cNvPr id="70" name="Google Shape;70;p15"/>
          <p:cNvSpPr txBox="1"/>
          <p:nvPr>
            <p:ph idx="1" type="body"/>
          </p:nvPr>
        </p:nvSpPr>
        <p:spPr>
          <a:xfrm>
            <a:off x="5486400" y="1530350"/>
            <a:ext cx="3543300" cy="2286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018"/>
              <a:buNone/>
            </a:pPr>
            <a:r>
              <a:rPr lang="en" sz="1500" u="sng">
                <a:solidFill>
                  <a:schemeClr val="dk1"/>
                </a:solidFill>
                <a:latin typeface="Calibri"/>
                <a:ea typeface="Calibri"/>
                <a:cs typeface="Calibri"/>
                <a:sym typeface="Calibri"/>
              </a:rPr>
              <a:t>Reservoirs</a:t>
            </a:r>
            <a:r>
              <a:rPr lang="en"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a:p>
            <a:pPr indent="-323850" lvl="0" marL="457200" rtl="0" algn="l">
              <a:lnSpc>
                <a:spcPct val="95000"/>
              </a:lnSpc>
              <a:spcBef>
                <a:spcPts val="0"/>
              </a:spcBef>
              <a:spcAft>
                <a:spcPts val="0"/>
              </a:spcAft>
              <a:buClr>
                <a:schemeClr val="dk1"/>
              </a:buClr>
              <a:buSzPts val="1500"/>
              <a:buFont typeface="Calibri"/>
              <a:buAutoNum type="arabicPeriod"/>
            </a:pPr>
            <a:r>
              <a:rPr lang="en" sz="1500">
                <a:solidFill>
                  <a:schemeClr val="dk1"/>
                </a:solidFill>
                <a:latin typeface="Calibri"/>
                <a:ea typeface="Calibri"/>
                <a:cs typeface="Calibri"/>
                <a:sym typeface="Calibri"/>
              </a:rPr>
              <a:t>Phosphorus in living organic state (L)</a:t>
            </a:r>
            <a:endParaRPr sz="1500">
              <a:solidFill>
                <a:schemeClr val="dk1"/>
              </a:solidFill>
              <a:latin typeface="Calibri"/>
              <a:ea typeface="Calibri"/>
              <a:cs typeface="Calibri"/>
              <a:sym typeface="Calibri"/>
            </a:endParaRPr>
          </a:p>
          <a:p>
            <a:pPr indent="-323850" lvl="0" marL="457200" rtl="0" algn="l">
              <a:lnSpc>
                <a:spcPct val="95000"/>
              </a:lnSpc>
              <a:spcBef>
                <a:spcPts val="0"/>
              </a:spcBef>
              <a:spcAft>
                <a:spcPts val="0"/>
              </a:spcAft>
              <a:buClr>
                <a:schemeClr val="dk1"/>
              </a:buClr>
              <a:buSzPts val="1500"/>
              <a:buFont typeface="Calibri"/>
              <a:buAutoNum type="arabicPeriod"/>
            </a:pPr>
            <a:r>
              <a:rPr lang="en" sz="1500">
                <a:solidFill>
                  <a:schemeClr val="dk1"/>
                </a:solidFill>
                <a:latin typeface="Calibri"/>
                <a:ea typeface="Calibri"/>
                <a:cs typeface="Calibri"/>
                <a:sym typeface="Calibri"/>
              </a:rPr>
              <a:t>Phosphorus in dead organic state (D)</a:t>
            </a:r>
            <a:endParaRPr sz="1500">
              <a:solidFill>
                <a:schemeClr val="dk1"/>
              </a:solidFill>
              <a:latin typeface="Calibri"/>
              <a:ea typeface="Calibri"/>
              <a:cs typeface="Calibri"/>
              <a:sym typeface="Calibri"/>
            </a:endParaRPr>
          </a:p>
          <a:p>
            <a:pPr indent="-323850" lvl="0" marL="457200" rtl="0" algn="l">
              <a:lnSpc>
                <a:spcPct val="95000"/>
              </a:lnSpc>
              <a:spcBef>
                <a:spcPts val="0"/>
              </a:spcBef>
              <a:spcAft>
                <a:spcPts val="0"/>
              </a:spcAft>
              <a:buClr>
                <a:schemeClr val="dk1"/>
              </a:buClr>
              <a:buSzPts val="1500"/>
              <a:buFont typeface="Calibri"/>
              <a:buAutoNum type="arabicPeriod"/>
            </a:pPr>
            <a:r>
              <a:rPr lang="en" sz="1500">
                <a:solidFill>
                  <a:schemeClr val="dk1"/>
                </a:solidFill>
                <a:latin typeface="Calibri"/>
                <a:ea typeface="Calibri"/>
                <a:cs typeface="Calibri"/>
                <a:sym typeface="Calibri"/>
              </a:rPr>
              <a:t>Inorganic phosphorus (I)</a:t>
            </a:r>
            <a:endParaRPr sz="1500">
              <a:solidFill>
                <a:schemeClr val="dk1"/>
              </a:solidFill>
              <a:latin typeface="Calibri"/>
              <a:ea typeface="Calibri"/>
              <a:cs typeface="Calibri"/>
              <a:sym typeface="Calibri"/>
            </a:endParaRPr>
          </a:p>
          <a:p>
            <a:pPr indent="0" lvl="0" marL="0" rtl="0" algn="l">
              <a:lnSpc>
                <a:spcPct val="95000"/>
              </a:lnSpc>
              <a:spcBef>
                <a:spcPts val="0"/>
              </a:spcBef>
              <a:spcAft>
                <a:spcPts val="0"/>
              </a:spcAft>
              <a:buSzPts val="1018"/>
              <a:buNone/>
            </a:pPr>
            <a:r>
              <a:t/>
            </a:r>
            <a:endParaRPr sz="1500">
              <a:solidFill>
                <a:schemeClr val="dk1"/>
              </a:solidFill>
              <a:latin typeface="Calibri"/>
              <a:ea typeface="Calibri"/>
              <a:cs typeface="Calibri"/>
              <a:sym typeface="Calibri"/>
            </a:endParaRPr>
          </a:p>
          <a:p>
            <a:pPr indent="0" lvl="0" marL="0" rtl="0" algn="l">
              <a:lnSpc>
                <a:spcPct val="95000"/>
              </a:lnSpc>
              <a:spcBef>
                <a:spcPts val="0"/>
              </a:spcBef>
              <a:spcAft>
                <a:spcPts val="0"/>
              </a:spcAft>
              <a:buSzPts val="1018"/>
              <a:buNone/>
            </a:pPr>
            <a:r>
              <a:rPr lang="en" sz="1500" u="sng">
                <a:solidFill>
                  <a:schemeClr val="dk1"/>
                </a:solidFill>
                <a:latin typeface="Calibri"/>
                <a:ea typeface="Calibri"/>
                <a:cs typeface="Calibri"/>
                <a:sym typeface="Calibri"/>
              </a:rPr>
              <a:t>Converters</a:t>
            </a:r>
            <a:r>
              <a:rPr lang="en"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a:p>
            <a:pPr indent="-323850" lvl="0" marL="457200" rtl="0" algn="l">
              <a:lnSpc>
                <a:spcPct val="95000"/>
              </a:lnSpc>
              <a:spcBef>
                <a:spcPts val="0"/>
              </a:spcBef>
              <a:spcAft>
                <a:spcPts val="0"/>
              </a:spcAft>
              <a:buClr>
                <a:schemeClr val="dk1"/>
              </a:buClr>
              <a:buSzPts val="1500"/>
              <a:buFont typeface="Calibri"/>
              <a:buAutoNum type="arabicPeriod"/>
            </a:pPr>
            <a:r>
              <a:rPr lang="en" sz="1500">
                <a:solidFill>
                  <a:schemeClr val="dk1"/>
                </a:solidFill>
                <a:latin typeface="Calibri"/>
                <a:ea typeface="Calibri"/>
                <a:cs typeface="Calibri"/>
                <a:sym typeface="Calibri"/>
              </a:rPr>
              <a:t>Death rate per mole (d) </a:t>
            </a:r>
            <a:endParaRPr sz="1500">
              <a:solidFill>
                <a:schemeClr val="dk1"/>
              </a:solidFill>
              <a:latin typeface="Calibri"/>
              <a:ea typeface="Calibri"/>
              <a:cs typeface="Calibri"/>
              <a:sym typeface="Calibri"/>
            </a:endParaRPr>
          </a:p>
          <a:p>
            <a:pPr indent="-323850" lvl="0" marL="457200" rtl="0" algn="l">
              <a:lnSpc>
                <a:spcPct val="95000"/>
              </a:lnSpc>
              <a:spcBef>
                <a:spcPts val="0"/>
              </a:spcBef>
              <a:spcAft>
                <a:spcPts val="0"/>
              </a:spcAft>
              <a:buClr>
                <a:schemeClr val="dk1"/>
              </a:buClr>
              <a:buSzPts val="1500"/>
              <a:buFont typeface="Calibri"/>
              <a:buAutoNum type="arabicPeriod"/>
            </a:pPr>
            <a:r>
              <a:rPr lang="en" sz="1500">
                <a:solidFill>
                  <a:schemeClr val="dk1"/>
                </a:solidFill>
                <a:latin typeface="Calibri"/>
                <a:ea typeface="Calibri"/>
                <a:cs typeface="Calibri"/>
                <a:sym typeface="Calibri"/>
              </a:rPr>
              <a:t>Decomposition rate per mole </a:t>
            </a:r>
            <a:r>
              <a:rPr lang="en" sz="1500">
                <a:solidFill>
                  <a:schemeClr val="dk1"/>
                </a:solidFill>
                <a:latin typeface="Calibri"/>
                <a:ea typeface="Calibri"/>
                <a:cs typeface="Calibri"/>
                <a:sym typeface="Calibri"/>
              </a:rPr>
              <a:t>(c)</a:t>
            </a:r>
            <a:endParaRPr sz="1500">
              <a:solidFill>
                <a:schemeClr val="dk1"/>
              </a:solidFill>
              <a:latin typeface="Calibri"/>
              <a:ea typeface="Calibri"/>
              <a:cs typeface="Calibri"/>
              <a:sym typeface="Calibri"/>
            </a:endParaRPr>
          </a:p>
          <a:p>
            <a:pPr indent="-323850" lvl="0" marL="457200" rtl="0" algn="l">
              <a:lnSpc>
                <a:spcPct val="95000"/>
              </a:lnSpc>
              <a:spcBef>
                <a:spcPts val="0"/>
              </a:spcBef>
              <a:spcAft>
                <a:spcPts val="0"/>
              </a:spcAft>
              <a:buClr>
                <a:schemeClr val="dk1"/>
              </a:buClr>
              <a:buSzPts val="1500"/>
              <a:buFont typeface="Calibri"/>
              <a:buAutoNum type="arabicPeriod"/>
            </a:pPr>
            <a:r>
              <a:rPr lang="en" sz="1500">
                <a:solidFill>
                  <a:schemeClr val="dk1"/>
                </a:solidFill>
                <a:latin typeface="Calibri"/>
                <a:ea typeface="Calibri"/>
                <a:cs typeface="Calibri"/>
                <a:sym typeface="Calibri"/>
              </a:rPr>
              <a:t>U</a:t>
            </a:r>
            <a:r>
              <a:rPr lang="en" sz="1500">
                <a:solidFill>
                  <a:schemeClr val="dk1"/>
                </a:solidFill>
                <a:latin typeface="Calibri"/>
                <a:ea typeface="Calibri"/>
                <a:cs typeface="Calibri"/>
                <a:sym typeface="Calibri"/>
              </a:rPr>
              <a:t>ptake rate per mole (u)</a:t>
            </a:r>
            <a:endParaRPr sz="1500">
              <a:solidFill>
                <a:schemeClr val="dk1"/>
              </a:solidFill>
              <a:latin typeface="Calibri"/>
              <a:ea typeface="Calibri"/>
              <a:cs typeface="Calibri"/>
              <a:sym typeface="Calibri"/>
            </a:endParaRPr>
          </a:p>
          <a:p>
            <a:pPr indent="0" lvl="0" marL="457200" rtl="0" algn="l">
              <a:lnSpc>
                <a:spcPct val="95000"/>
              </a:lnSpc>
              <a:spcBef>
                <a:spcPts val="0"/>
              </a:spcBef>
              <a:spcAft>
                <a:spcPts val="1200"/>
              </a:spcAft>
              <a:buSzPts val="1018"/>
              <a:buNone/>
            </a:pPr>
            <a:r>
              <a:t/>
            </a:r>
            <a:endParaRPr sz="1500">
              <a:solidFill>
                <a:schemeClr val="dk1"/>
              </a:solidFill>
              <a:latin typeface="Calibri"/>
              <a:ea typeface="Calibri"/>
              <a:cs typeface="Calibri"/>
              <a:sym typeface="Calibri"/>
            </a:endParaRPr>
          </a:p>
        </p:txBody>
      </p:sp>
      <p:pic>
        <p:nvPicPr>
          <p:cNvPr id="71" name="Google Shape;71;p15"/>
          <p:cNvPicPr preferRelativeResize="0"/>
          <p:nvPr/>
        </p:nvPicPr>
        <p:blipFill>
          <a:blip r:embed="rId3">
            <a:alphaModFix/>
          </a:blip>
          <a:stretch>
            <a:fillRect/>
          </a:stretch>
        </p:blipFill>
        <p:spPr>
          <a:xfrm>
            <a:off x="265775" y="881849"/>
            <a:ext cx="5174699" cy="366362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75" name="Shape 75"/>
        <p:cNvGrpSpPr/>
        <p:nvPr/>
      </p:nvGrpSpPr>
      <p:grpSpPr>
        <a:xfrm>
          <a:off x="0" y="0"/>
          <a:ext cx="0" cy="0"/>
          <a:chOff x="0" y="0"/>
          <a:chExt cx="0" cy="0"/>
        </a:xfrm>
      </p:grpSpPr>
      <p:sp>
        <p:nvSpPr>
          <p:cNvPr id="76" name="Google Shape;76;p16"/>
          <p:cNvSpPr txBox="1"/>
          <p:nvPr>
            <p:ph type="title"/>
          </p:nvPr>
        </p:nvSpPr>
        <p:spPr>
          <a:xfrm>
            <a:off x="222800" y="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Model Derivation</a:t>
            </a:r>
            <a:endParaRPr b="1" sz="3300">
              <a:latin typeface="Amatic SC"/>
              <a:ea typeface="Amatic SC"/>
              <a:cs typeface="Amatic SC"/>
              <a:sym typeface="Amatic SC"/>
            </a:endParaRPr>
          </a:p>
        </p:txBody>
      </p:sp>
      <p:pic>
        <p:nvPicPr>
          <p:cNvPr id="77" name="Google Shape;77;p16"/>
          <p:cNvPicPr preferRelativeResize="0"/>
          <p:nvPr/>
        </p:nvPicPr>
        <p:blipFill rotWithShape="1">
          <a:blip r:embed="rId3">
            <a:alphaModFix/>
          </a:blip>
          <a:srcRect b="27363" l="0" r="36869" t="0"/>
          <a:stretch/>
        </p:blipFill>
        <p:spPr>
          <a:xfrm>
            <a:off x="426000" y="864900"/>
            <a:ext cx="3930175" cy="3714900"/>
          </a:xfrm>
          <a:prstGeom prst="rect">
            <a:avLst/>
          </a:prstGeom>
          <a:noFill/>
          <a:ln>
            <a:noFill/>
          </a:ln>
        </p:spPr>
      </p:pic>
      <p:sp>
        <p:nvSpPr>
          <p:cNvPr id="78" name="Google Shape;78;p16"/>
          <p:cNvSpPr txBox="1"/>
          <p:nvPr/>
        </p:nvSpPr>
        <p:spPr>
          <a:xfrm>
            <a:off x="4922063" y="2998675"/>
            <a:ext cx="3697500" cy="12531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Calibri"/>
              <a:buChar char="-"/>
            </a:pPr>
            <a:r>
              <a:rPr lang="en" sz="1900">
                <a:solidFill>
                  <a:schemeClr val="dk1"/>
                </a:solidFill>
                <a:latin typeface="Calibri"/>
                <a:ea typeface="Calibri"/>
                <a:cs typeface="Calibri"/>
                <a:sym typeface="Calibri"/>
              </a:rPr>
              <a:t>Death of algae depends on death rate (d) and the amount phosphorus in the living organic state (L)</a:t>
            </a:r>
            <a:endParaRPr sz="1900">
              <a:solidFill>
                <a:schemeClr val="dk1"/>
              </a:solidFill>
              <a:latin typeface="Calibri"/>
              <a:ea typeface="Calibri"/>
              <a:cs typeface="Calibri"/>
              <a:sym typeface="Calibri"/>
            </a:endParaRPr>
          </a:p>
        </p:txBody>
      </p:sp>
      <p:pic>
        <p:nvPicPr>
          <p:cNvPr id="79" name="Google Shape;79;p16"/>
          <p:cNvPicPr preferRelativeResize="0"/>
          <p:nvPr/>
        </p:nvPicPr>
        <p:blipFill>
          <a:blip r:embed="rId4">
            <a:alphaModFix/>
          </a:blip>
          <a:stretch>
            <a:fillRect/>
          </a:stretch>
        </p:blipFill>
        <p:spPr>
          <a:xfrm>
            <a:off x="4994438" y="864900"/>
            <a:ext cx="3552775" cy="1841575"/>
          </a:xfrm>
          <a:prstGeom prst="rect">
            <a:avLst/>
          </a:prstGeom>
          <a:noFill/>
          <a:ln>
            <a:noFill/>
          </a:ln>
        </p:spPr>
      </p:pic>
      <p:sp>
        <p:nvSpPr>
          <p:cNvPr id="80" name="Google Shape;80;p16"/>
          <p:cNvSpPr txBox="1"/>
          <p:nvPr/>
        </p:nvSpPr>
        <p:spPr>
          <a:xfrm>
            <a:off x="2862600" y="175350"/>
            <a:ext cx="62814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rPr>
              <a:t>(Assumes linear relationship for all graphs)</a:t>
            </a:r>
            <a:endParaRPr sz="17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84" name="Shape 84"/>
        <p:cNvGrpSpPr/>
        <p:nvPr/>
      </p:nvGrpSpPr>
      <p:grpSpPr>
        <a:xfrm>
          <a:off x="0" y="0"/>
          <a:ext cx="0" cy="0"/>
          <a:chOff x="0" y="0"/>
          <a:chExt cx="0" cy="0"/>
        </a:xfrm>
      </p:grpSpPr>
      <p:sp>
        <p:nvSpPr>
          <p:cNvPr id="85" name="Google Shape;85;p17"/>
          <p:cNvSpPr txBox="1"/>
          <p:nvPr>
            <p:ph type="title"/>
          </p:nvPr>
        </p:nvSpPr>
        <p:spPr>
          <a:xfrm>
            <a:off x="311700" y="107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Model Derivation</a:t>
            </a:r>
            <a:endParaRPr b="1" sz="3300">
              <a:latin typeface="Amatic SC"/>
              <a:ea typeface="Amatic SC"/>
              <a:cs typeface="Amatic SC"/>
              <a:sym typeface="Amatic SC"/>
            </a:endParaRPr>
          </a:p>
        </p:txBody>
      </p:sp>
      <p:pic>
        <p:nvPicPr>
          <p:cNvPr id="86" name="Google Shape;86;p17"/>
          <p:cNvPicPr preferRelativeResize="0"/>
          <p:nvPr/>
        </p:nvPicPr>
        <p:blipFill rotWithShape="1">
          <a:blip r:embed="rId3">
            <a:alphaModFix/>
          </a:blip>
          <a:srcRect b="26265" l="0" r="32944" t="0"/>
          <a:stretch/>
        </p:blipFill>
        <p:spPr>
          <a:xfrm>
            <a:off x="387900" y="1049850"/>
            <a:ext cx="4397250" cy="3392700"/>
          </a:xfrm>
          <a:prstGeom prst="rect">
            <a:avLst/>
          </a:prstGeom>
          <a:noFill/>
          <a:ln>
            <a:noFill/>
          </a:ln>
        </p:spPr>
      </p:pic>
      <p:sp>
        <p:nvSpPr>
          <p:cNvPr id="87" name="Google Shape;87;p17"/>
          <p:cNvSpPr txBox="1"/>
          <p:nvPr/>
        </p:nvSpPr>
        <p:spPr>
          <a:xfrm>
            <a:off x="5187188" y="2712575"/>
            <a:ext cx="3743400" cy="14898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Calibri"/>
              <a:buChar char="-"/>
            </a:pPr>
            <a:r>
              <a:rPr lang="en" sz="1900">
                <a:solidFill>
                  <a:schemeClr val="dk1"/>
                </a:solidFill>
                <a:latin typeface="Calibri"/>
                <a:ea typeface="Calibri"/>
                <a:cs typeface="Calibri"/>
                <a:sym typeface="Calibri"/>
              </a:rPr>
              <a:t>Decomposition depends on decomposition rate </a:t>
            </a:r>
            <a:r>
              <a:rPr lang="en" sz="1900">
                <a:solidFill>
                  <a:schemeClr val="dk1"/>
                </a:solidFill>
                <a:latin typeface="Calibri"/>
                <a:ea typeface="Calibri"/>
                <a:cs typeface="Calibri"/>
                <a:sym typeface="Calibri"/>
              </a:rPr>
              <a:t>(c) and phosphorus in dead organic state (D)</a:t>
            </a:r>
            <a:endParaRPr sz="1900">
              <a:solidFill>
                <a:schemeClr val="dk1"/>
              </a:solidFill>
              <a:latin typeface="Calibri"/>
              <a:ea typeface="Calibri"/>
              <a:cs typeface="Calibri"/>
              <a:sym typeface="Calibri"/>
            </a:endParaRPr>
          </a:p>
        </p:txBody>
      </p:sp>
      <p:pic>
        <p:nvPicPr>
          <p:cNvPr id="88" name="Google Shape;88;p17"/>
          <p:cNvPicPr preferRelativeResize="0"/>
          <p:nvPr/>
        </p:nvPicPr>
        <p:blipFill>
          <a:blip r:embed="rId4">
            <a:alphaModFix/>
          </a:blip>
          <a:stretch>
            <a:fillRect/>
          </a:stretch>
        </p:blipFill>
        <p:spPr>
          <a:xfrm>
            <a:off x="5285475" y="1049850"/>
            <a:ext cx="3546825" cy="119626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92" name="Shape 92"/>
        <p:cNvGrpSpPr/>
        <p:nvPr/>
      </p:nvGrpSpPr>
      <p:grpSpPr>
        <a:xfrm>
          <a:off x="0" y="0"/>
          <a:ext cx="0" cy="0"/>
          <a:chOff x="0" y="0"/>
          <a:chExt cx="0" cy="0"/>
        </a:xfrm>
      </p:grpSpPr>
      <p:sp>
        <p:nvSpPr>
          <p:cNvPr id="93" name="Google Shape;93;p18"/>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Model Derivation</a:t>
            </a:r>
            <a:endParaRPr b="1" sz="3300">
              <a:latin typeface="Amatic SC"/>
              <a:ea typeface="Amatic SC"/>
              <a:cs typeface="Amatic SC"/>
              <a:sym typeface="Amatic SC"/>
            </a:endParaRPr>
          </a:p>
        </p:txBody>
      </p:sp>
      <p:pic>
        <p:nvPicPr>
          <p:cNvPr id="94" name="Google Shape;94;p18"/>
          <p:cNvPicPr preferRelativeResize="0"/>
          <p:nvPr/>
        </p:nvPicPr>
        <p:blipFill rotWithShape="1">
          <a:blip r:embed="rId3">
            <a:alphaModFix/>
          </a:blip>
          <a:srcRect b="22227" l="0" r="25684" t="0"/>
          <a:stretch/>
        </p:blipFill>
        <p:spPr>
          <a:xfrm>
            <a:off x="470661" y="894117"/>
            <a:ext cx="2497999" cy="2195533"/>
          </a:xfrm>
          <a:prstGeom prst="rect">
            <a:avLst/>
          </a:prstGeom>
          <a:noFill/>
          <a:ln>
            <a:noFill/>
          </a:ln>
        </p:spPr>
      </p:pic>
      <p:sp>
        <p:nvSpPr>
          <p:cNvPr id="95" name="Google Shape;95;p18"/>
          <p:cNvSpPr txBox="1"/>
          <p:nvPr/>
        </p:nvSpPr>
        <p:spPr>
          <a:xfrm>
            <a:off x="3061150" y="2724150"/>
            <a:ext cx="3172200" cy="19755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Growth</a:t>
            </a:r>
            <a:r>
              <a:rPr lang="en" sz="1700">
                <a:solidFill>
                  <a:schemeClr val="dk1"/>
                </a:solidFill>
                <a:latin typeface="Calibri"/>
                <a:ea typeface="Calibri"/>
                <a:cs typeface="Calibri"/>
                <a:sym typeface="Calibri"/>
              </a:rPr>
              <a:t> depends on </a:t>
            </a:r>
            <a:r>
              <a:rPr lang="en" sz="1700">
                <a:solidFill>
                  <a:schemeClr val="dk1"/>
                </a:solidFill>
                <a:latin typeface="Calibri"/>
                <a:ea typeface="Calibri"/>
                <a:cs typeface="Calibri"/>
                <a:sym typeface="Calibri"/>
              </a:rPr>
              <a:t>growth</a:t>
            </a:r>
            <a:r>
              <a:rPr lang="en" sz="1700">
                <a:solidFill>
                  <a:schemeClr val="dk1"/>
                </a:solidFill>
                <a:latin typeface="Calibri"/>
                <a:ea typeface="Calibri"/>
                <a:cs typeface="Calibri"/>
                <a:sym typeface="Calibri"/>
              </a:rPr>
              <a:t> rate (g) and the amount of inorganic phosphorus (I)</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Growth</a:t>
            </a:r>
            <a:r>
              <a:rPr lang="en" sz="1700">
                <a:solidFill>
                  <a:schemeClr val="dk1"/>
                </a:solidFill>
                <a:latin typeface="Calibri"/>
                <a:ea typeface="Calibri"/>
                <a:cs typeface="Calibri"/>
                <a:sym typeface="Calibri"/>
              </a:rPr>
              <a:t> rate depends on the uptake rate and phosphorus in living organic state (L)</a:t>
            </a:r>
            <a:endParaRPr sz="1700">
              <a:solidFill>
                <a:schemeClr val="dk1"/>
              </a:solidFill>
              <a:latin typeface="Calibri"/>
              <a:ea typeface="Calibri"/>
              <a:cs typeface="Calibri"/>
              <a:sym typeface="Calibri"/>
            </a:endParaRPr>
          </a:p>
        </p:txBody>
      </p:sp>
      <p:sp>
        <p:nvSpPr>
          <p:cNvPr id="96" name="Google Shape;96;p18"/>
          <p:cNvSpPr txBox="1"/>
          <p:nvPr/>
        </p:nvSpPr>
        <p:spPr>
          <a:xfrm>
            <a:off x="157500" y="1077050"/>
            <a:ext cx="5079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endParaRPr>
          </a:p>
        </p:txBody>
      </p:sp>
      <p:pic>
        <p:nvPicPr>
          <p:cNvPr id="97" name="Google Shape;97;p18"/>
          <p:cNvPicPr preferRelativeResize="0"/>
          <p:nvPr/>
        </p:nvPicPr>
        <p:blipFill>
          <a:blip r:embed="rId4">
            <a:alphaModFix/>
          </a:blip>
          <a:stretch>
            <a:fillRect/>
          </a:stretch>
        </p:blipFill>
        <p:spPr>
          <a:xfrm>
            <a:off x="562363" y="3509025"/>
            <a:ext cx="2314575" cy="1038225"/>
          </a:xfrm>
          <a:prstGeom prst="rect">
            <a:avLst/>
          </a:prstGeom>
          <a:noFill/>
          <a:ln>
            <a:noFill/>
          </a:ln>
        </p:spPr>
      </p:pic>
      <p:pic>
        <p:nvPicPr>
          <p:cNvPr id="98" name="Google Shape;98;p18"/>
          <p:cNvPicPr preferRelativeResize="0"/>
          <p:nvPr/>
        </p:nvPicPr>
        <p:blipFill rotWithShape="1">
          <a:blip r:embed="rId5">
            <a:alphaModFix/>
          </a:blip>
          <a:srcRect b="24334" l="0" r="38004" t="0"/>
          <a:stretch/>
        </p:blipFill>
        <p:spPr>
          <a:xfrm>
            <a:off x="6325850" y="845325"/>
            <a:ext cx="2347564" cy="2244325"/>
          </a:xfrm>
          <a:prstGeom prst="rect">
            <a:avLst/>
          </a:prstGeom>
          <a:noFill/>
          <a:ln>
            <a:noFill/>
          </a:ln>
        </p:spPr>
      </p:pic>
      <p:pic>
        <p:nvPicPr>
          <p:cNvPr id="99" name="Google Shape;99;p18"/>
          <p:cNvPicPr preferRelativeResize="0"/>
          <p:nvPr/>
        </p:nvPicPr>
        <p:blipFill>
          <a:blip r:embed="rId6">
            <a:alphaModFix/>
          </a:blip>
          <a:stretch>
            <a:fillRect/>
          </a:stretch>
        </p:blipFill>
        <p:spPr>
          <a:xfrm>
            <a:off x="6656074" y="3420697"/>
            <a:ext cx="1687120" cy="1038225"/>
          </a:xfrm>
          <a:prstGeom prst="rect">
            <a:avLst/>
          </a:prstGeom>
          <a:noFill/>
          <a:ln>
            <a:noFill/>
          </a:ln>
        </p:spPr>
      </p:pic>
      <p:cxnSp>
        <p:nvCxnSpPr>
          <p:cNvPr id="100" name="Google Shape;100;p18"/>
          <p:cNvCxnSpPr/>
          <p:nvPr/>
        </p:nvCxnSpPr>
        <p:spPr>
          <a:xfrm flipH="1" rot="10800000">
            <a:off x="3125650" y="1877225"/>
            <a:ext cx="2772300" cy="29700"/>
          </a:xfrm>
          <a:prstGeom prst="straightConnector1">
            <a:avLst/>
          </a:prstGeom>
          <a:noFill/>
          <a:ln cap="flat" cmpd="sng" w="76200">
            <a:solidFill>
              <a:schemeClr val="dk2"/>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3300">
                <a:latin typeface="Amatic SC"/>
                <a:ea typeface="Amatic SC"/>
                <a:cs typeface="Amatic SC"/>
                <a:sym typeface="Amatic SC"/>
              </a:rPr>
              <a:t>CONCEPTUAL </a:t>
            </a:r>
            <a:r>
              <a:rPr b="1" lang="en" sz="3300">
                <a:latin typeface="Amatic SC"/>
                <a:ea typeface="Amatic SC"/>
                <a:cs typeface="Amatic SC"/>
                <a:sym typeface="Amatic SC"/>
              </a:rPr>
              <a:t>Model BECOMES A MATHEMATICAL MODEL</a:t>
            </a:r>
            <a:endParaRPr b="1" sz="3300">
              <a:latin typeface="Amatic SC"/>
              <a:ea typeface="Amatic SC"/>
              <a:cs typeface="Amatic SC"/>
              <a:sym typeface="Amatic SC"/>
            </a:endParaRPr>
          </a:p>
          <a:p>
            <a:pPr indent="0" lvl="0" marL="0" rtl="0" algn="l">
              <a:spcBef>
                <a:spcPts val="0"/>
              </a:spcBef>
              <a:spcAft>
                <a:spcPts val="0"/>
              </a:spcAft>
              <a:buClr>
                <a:schemeClr val="dk1"/>
              </a:buClr>
              <a:buSzPts val="1100"/>
              <a:buFont typeface="Arial"/>
              <a:buNone/>
            </a:pPr>
            <a:r>
              <a:rPr b="1" lang="en" sz="2000">
                <a:latin typeface="Amatic SC"/>
                <a:ea typeface="Amatic SC"/>
                <a:cs typeface="Amatic SC"/>
                <a:sym typeface="Amatic SC"/>
              </a:rPr>
              <a:t>PARAMETERS, VALUES</a:t>
            </a:r>
            <a:endParaRPr b="1" sz="2000">
              <a:latin typeface="Amatic SC"/>
              <a:ea typeface="Amatic SC"/>
              <a:cs typeface="Amatic SC"/>
              <a:sym typeface="Amatic SC"/>
            </a:endParaRPr>
          </a:p>
          <a:p>
            <a:pPr indent="0" lvl="0" marL="0" rtl="0" algn="l">
              <a:spcBef>
                <a:spcPts val="0"/>
              </a:spcBef>
              <a:spcAft>
                <a:spcPts val="0"/>
              </a:spcAft>
              <a:buNone/>
            </a:pPr>
            <a:r>
              <a:t/>
            </a:r>
            <a:endParaRPr b="1" sz="3300">
              <a:latin typeface="Amatic SC"/>
              <a:ea typeface="Amatic SC"/>
              <a:cs typeface="Amatic SC"/>
              <a:sym typeface="Amatic SC"/>
            </a:endParaRPr>
          </a:p>
        </p:txBody>
      </p:sp>
      <p:pic>
        <p:nvPicPr>
          <p:cNvPr id="106" name="Google Shape;106;p19" title="Screenshot 2026-03-26 at 11.02.58 AM.png"/>
          <p:cNvPicPr preferRelativeResize="0"/>
          <p:nvPr/>
        </p:nvPicPr>
        <p:blipFill rotWithShape="1">
          <a:blip r:embed="rId3">
            <a:alphaModFix/>
          </a:blip>
          <a:srcRect b="45136" l="0" r="1961" t="0"/>
          <a:stretch/>
        </p:blipFill>
        <p:spPr>
          <a:xfrm>
            <a:off x="311700" y="1260700"/>
            <a:ext cx="4108174" cy="3085551"/>
          </a:xfrm>
          <a:prstGeom prst="rect">
            <a:avLst/>
          </a:prstGeom>
          <a:noFill/>
          <a:ln cap="flat" cmpd="sng" w="9525">
            <a:solidFill>
              <a:srgbClr val="4A86E8"/>
            </a:solidFill>
            <a:prstDash val="solid"/>
            <a:round/>
            <a:headEnd len="sm" w="sm" type="none"/>
            <a:tailEnd len="sm" w="sm" type="none"/>
          </a:ln>
        </p:spPr>
      </p:pic>
      <p:sp>
        <p:nvSpPr>
          <p:cNvPr id="107" name="Google Shape;107;p19"/>
          <p:cNvSpPr txBox="1"/>
          <p:nvPr>
            <p:ph idx="1" type="body"/>
          </p:nvPr>
        </p:nvSpPr>
        <p:spPr>
          <a:xfrm>
            <a:off x="4419875" y="1093536"/>
            <a:ext cx="4584600" cy="3696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The rate of change in the reservoirs are dependant on the inflows and outflows</a:t>
            </a:r>
            <a:endParaRPr>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Inorganic phosphorus (I)</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inflow: decomposing dead organic phosphorus</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outflow: growing inorganic phosphorus</a:t>
            </a:r>
            <a:endParaRPr>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phosphorus in living organic state (L)</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inflow: growing inorganic</a:t>
            </a:r>
            <a:r>
              <a:rPr lang="en">
                <a:solidFill>
                  <a:schemeClr val="dk1"/>
                </a:solidFill>
                <a:latin typeface="Calibri"/>
                <a:ea typeface="Calibri"/>
                <a:cs typeface="Calibri"/>
                <a:sym typeface="Calibri"/>
              </a:rPr>
              <a:t> phosphorus</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outflow: dying organic phosphorus in the living state</a:t>
            </a:r>
            <a:endParaRPr>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Phosphorus in dead organic state (D)</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inflow: dying organic phosphorus in the living state</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outflow: decomposing dead organic phosphorus</a:t>
            </a:r>
            <a:endParaRPr>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11" name="Shape 111"/>
        <p:cNvGrpSpPr/>
        <p:nvPr/>
      </p:nvGrpSpPr>
      <p:grpSpPr>
        <a:xfrm>
          <a:off x="0" y="0"/>
          <a:ext cx="0" cy="0"/>
          <a:chOff x="0" y="0"/>
          <a:chExt cx="0" cy="0"/>
        </a:xfrm>
      </p:grpSpPr>
      <p:sp>
        <p:nvSpPr>
          <p:cNvPr id="112" name="Google Shape;112;p20"/>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3300">
                <a:latin typeface="Amatic SC"/>
                <a:ea typeface="Amatic SC"/>
                <a:cs typeface="Amatic SC"/>
                <a:sym typeface="Amatic SC"/>
              </a:rPr>
              <a:t>CONCEPTUAL Model BECOMES A MATHEMATICAL MODEL</a:t>
            </a:r>
            <a:endParaRPr b="1" sz="3300">
              <a:latin typeface="Amatic SC"/>
              <a:ea typeface="Amatic SC"/>
              <a:cs typeface="Amatic SC"/>
              <a:sym typeface="Amatic SC"/>
            </a:endParaRPr>
          </a:p>
          <a:p>
            <a:pPr indent="0" lvl="0" marL="0" rtl="0" algn="l">
              <a:spcBef>
                <a:spcPts val="0"/>
              </a:spcBef>
              <a:spcAft>
                <a:spcPts val="0"/>
              </a:spcAft>
              <a:buClr>
                <a:schemeClr val="dk1"/>
              </a:buClr>
              <a:buSzPts val="1100"/>
              <a:buFont typeface="Arial"/>
              <a:buNone/>
            </a:pPr>
            <a:r>
              <a:rPr b="1" lang="en" sz="2000">
                <a:latin typeface="Amatic SC"/>
                <a:ea typeface="Amatic SC"/>
                <a:cs typeface="Amatic SC"/>
                <a:sym typeface="Amatic SC"/>
              </a:rPr>
              <a:t>PARAMETERS, VALUES</a:t>
            </a:r>
            <a:endParaRPr b="1" sz="2000">
              <a:latin typeface="Amatic SC"/>
              <a:ea typeface="Amatic SC"/>
              <a:cs typeface="Amatic SC"/>
              <a:sym typeface="Amatic SC"/>
            </a:endParaRPr>
          </a:p>
          <a:p>
            <a:pPr indent="0" lvl="0" marL="0" rtl="0" algn="l">
              <a:spcBef>
                <a:spcPts val="0"/>
              </a:spcBef>
              <a:spcAft>
                <a:spcPts val="0"/>
              </a:spcAft>
              <a:buNone/>
            </a:pPr>
            <a:r>
              <a:t/>
            </a:r>
            <a:endParaRPr b="1" sz="3300">
              <a:latin typeface="Amatic SC"/>
              <a:ea typeface="Amatic SC"/>
              <a:cs typeface="Amatic SC"/>
              <a:sym typeface="Amatic SC"/>
            </a:endParaRPr>
          </a:p>
        </p:txBody>
      </p:sp>
      <p:sp>
        <p:nvSpPr>
          <p:cNvPr id="113" name="Google Shape;113;p20"/>
          <p:cNvSpPr txBox="1"/>
          <p:nvPr>
            <p:ph idx="1" type="body"/>
          </p:nvPr>
        </p:nvSpPr>
        <p:spPr>
          <a:xfrm>
            <a:off x="6053102" y="1289050"/>
            <a:ext cx="2779200" cy="3418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Values obtained from the field for the lake system</a:t>
            </a:r>
            <a:endParaRPr>
              <a:solidFill>
                <a:schemeClr val="dk1"/>
              </a:solidFill>
              <a:latin typeface="Calibri"/>
              <a:ea typeface="Calibri"/>
              <a:cs typeface="Calibri"/>
              <a:sym typeface="Calibri"/>
            </a:endParaRPr>
          </a:p>
        </p:txBody>
      </p:sp>
      <p:pic>
        <p:nvPicPr>
          <p:cNvPr id="114" name="Google Shape;114;p20"/>
          <p:cNvPicPr preferRelativeResize="0"/>
          <p:nvPr/>
        </p:nvPicPr>
        <p:blipFill>
          <a:blip r:embed="rId3">
            <a:alphaModFix/>
          </a:blip>
          <a:stretch>
            <a:fillRect/>
          </a:stretch>
        </p:blipFill>
        <p:spPr>
          <a:xfrm>
            <a:off x="459225" y="1103800"/>
            <a:ext cx="5378400" cy="36037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18" name="Shape 118"/>
        <p:cNvGrpSpPr/>
        <p:nvPr/>
      </p:nvGrpSpPr>
      <p:grpSpPr>
        <a:xfrm>
          <a:off x="0" y="0"/>
          <a:ext cx="0" cy="0"/>
          <a:chOff x="0" y="0"/>
          <a:chExt cx="0" cy="0"/>
        </a:xfrm>
      </p:grpSpPr>
      <p:sp>
        <p:nvSpPr>
          <p:cNvPr id="119" name="Google Shape;119;p21"/>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Model Results</a:t>
            </a:r>
            <a:endParaRPr b="1" sz="3300">
              <a:latin typeface="Amatic SC"/>
              <a:ea typeface="Amatic SC"/>
              <a:cs typeface="Amatic SC"/>
              <a:sym typeface="Amatic SC"/>
            </a:endParaRPr>
          </a:p>
        </p:txBody>
      </p:sp>
      <p:sp>
        <p:nvSpPr>
          <p:cNvPr id="120" name="Google Shape;120;p21"/>
          <p:cNvSpPr txBox="1"/>
          <p:nvPr>
            <p:ph idx="1" type="body"/>
          </p:nvPr>
        </p:nvSpPr>
        <p:spPr>
          <a:xfrm>
            <a:off x="311700" y="687525"/>
            <a:ext cx="8520600" cy="2389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solidFill>
                  <a:schemeClr val="dk1"/>
                </a:solidFill>
                <a:latin typeface="Calibri"/>
                <a:ea typeface="Calibri"/>
                <a:cs typeface="Calibri"/>
                <a:sym typeface="Calibri"/>
              </a:rPr>
              <a:t>Questions:</a:t>
            </a:r>
            <a:endParaRPr>
              <a:solidFill>
                <a:schemeClr val="dk1"/>
              </a:solidFill>
              <a:latin typeface="Calibri"/>
              <a:ea typeface="Calibri"/>
              <a:cs typeface="Calibri"/>
              <a:sym typeface="Calibri"/>
            </a:endParaRPr>
          </a:p>
          <a:p>
            <a:pPr indent="-325755" lvl="0" marL="457200" rtl="0" algn="l">
              <a:spcBef>
                <a:spcPts val="1200"/>
              </a:spcBef>
              <a:spcAft>
                <a:spcPts val="0"/>
              </a:spcAft>
              <a:buClr>
                <a:schemeClr val="dk1"/>
              </a:buClr>
              <a:buSzPct val="100000"/>
              <a:buFont typeface="Calibri"/>
              <a:buAutoNum type="arabicPeriod"/>
            </a:pPr>
            <a:r>
              <a:rPr lang="en">
                <a:solidFill>
                  <a:schemeClr val="dk1"/>
                </a:solidFill>
                <a:latin typeface="Calibri"/>
                <a:ea typeface="Calibri"/>
                <a:cs typeface="Calibri"/>
                <a:sym typeface="Calibri"/>
              </a:rPr>
              <a:t>For what conditions (relations among variables) each of the reservoirs can be in steady state?</a:t>
            </a:r>
            <a:endParaRPr>
              <a:solidFill>
                <a:schemeClr val="dk1"/>
              </a:solidFill>
              <a:latin typeface="Calibri"/>
              <a:ea typeface="Calibri"/>
              <a:cs typeface="Calibri"/>
              <a:sym typeface="Calibri"/>
            </a:endParaRPr>
          </a:p>
          <a:p>
            <a:pPr indent="-325755" lvl="0" marL="457200" rtl="0" algn="l">
              <a:spcBef>
                <a:spcPts val="0"/>
              </a:spcBef>
              <a:spcAft>
                <a:spcPts val="0"/>
              </a:spcAft>
              <a:buClr>
                <a:schemeClr val="dk1"/>
              </a:buClr>
              <a:buSzPct val="100000"/>
              <a:buFont typeface="Calibri"/>
              <a:buAutoNum type="arabicPeriod"/>
            </a:pPr>
            <a:r>
              <a:rPr lang="en">
                <a:solidFill>
                  <a:schemeClr val="dk1"/>
                </a:solidFill>
                <a:latin typeface="Calibri"/>
                <a:ea typeface="Calibri"/>
                <a:cs typeface="Calibri"/>
                <a:sym typeface="Calibri"/>
              </a:rPr>
              <a:t>How do the three reservoirs change over 100 years, with time step 0.1 year?</a:t>
            </a:r>
            <a:endParaRPr>
              <a:solidFill>
                <a:schemeClr val="dk1"/>
              </a:solidFill>
              <a:latin typeface="Calibri"/>
              <a:ea typeface="Calibri"/>
              <a:cs typeface="Calibri"/>
              <a:sym typeface="Calibri"/>
            </a:endParaRPr>
          </a:p>
          <a:p>
            <a:pPr indent="-325755" lvl="0" marL="457200" rtl="0" algn="l">
              <a:spcBef>
                <a:spcPts val="0"/>
              </a:spcBef>
              <a:spcAft>
                <a:spcPts val="0"/>
              </a:spcAft>
              <a:buClr>
                <a:schemeClr val="dk1"/>
              </a:buClr>
              <a:buSzPct val="100000"/>
              <a:buFont typeface="Calibri"/>
              <a:buAutoNum type="arabicPeriod"/>
            </a:pPr>
            <a:r>
              <a:rPr lang="en">
                <a:solidFill>
                  <a:schemeClr val="dk1"/>
                </a:solidFill>
                <a:latin typeface="Calibri"/>
                <a:ea typeface="Calibri"/>
                <a:cs typeface="Calibri"/>
                <a:sym typeface="Calibri"/>
              </a:rPr>
              <a:t>How sensitive are the results to changes in the parameter values of d, c, and u. </a:t>
            </a:r>
            <a:r>
              <a:rPr lang="en">
                <a:solidFill>
                  <a:schemeClr val="dk1"/>
                </a:solidFill>
                <a:latin typeface="Calibri"/>
                <a:ea typeface="Calibri"/>
                <a:cs typeface="Calibri"/>
                <a:sym typeface="Calibri"/>
              </a:rPr>
              <a:t>And how sensitive are the results to changes in initial conditions of the reservoirs?</a:t>
            </a:r>
            <a:endParaRPr>
              <a:solidFill>
                <a:schemeClr val="dk1"/>
              </a:solidFill>
              <a:latin typeface="Calibri"/>
              <a:ea typeface="Calibri"/>
              <a:cs typeface="Calibri"/>
              <a:sym typeface="Calibri"/>
            </a:endParaRPr>
          </a:p>
          <a:p>
            <a:pPr indent="-325755" lvl="0" marL="457200" rtl="0" algn="l">
              <a:spcBef>
                <a:spcPts val="0"/>
              </a:spcBef>
              <a:spcAft>
                <a:spcPts val="0"/>
              </a:spcAft>
              <a:buClr>
                <a:schemeClr val="dk1"/>
              </a:buClr>
              <a:buSzPct val="100000"/>
              <a:buFont typeface="Calibri"/>
              <a:buAutoNum type="arabicPeriod"/>
            </a:pPr>
            <a:r>
              <a:rPr lang="en">
                <a:solidFill>
                  <a:schemeClr val="dk1"/>
                </a:solidFill>
                <a:latin typeface="Calibri"/>
                <a:ea typeface="Calibri"/>
                <a:cs typeface="Calibri"/>
                <a:sym typeface="Calibri"/>
              </a:rPr>
              <a:t>Once the reservoirs hit steady state, what happens when an influx of inorganic phosphorus is experienced over time and what happens when there is a one-step influx of inorganic phosphorus?</a:t>
            </a:r>
            <a:endParaRPr>
              <a:solidFill>
                <a:schemeClr val="dk1"/>
              </a:solidFill>
              <a:latin typeface="Calibri"/>
              <a:ea typeface="Calibri"/>
              <a:cs typeface="Calibri"/>
              <a:sym typeface="Calibri"/>
            </a:endParaRPr>
          </a:p>
          <a:p>
            <a:pPr indent="0" lvl="0" marL="0" rtl="0" algn="l">
              <a:spcBef>
                <a:spcPts val="1200"/>
              </a:spcBef>
              <a:spcAft>
                <a:spcPts val="1200"/>
              </a:spcAft>
              <a:buNone/>
            </a:pPr>
            <a:r>
              <a:t/>
            </a:r>
            <a:endParaRPr>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24" name="Shape 124"/>
        <p:cNvGrpSpPr/>
        <p:nvPr/>
      </p:nvGrpSpPr>
      <p:grpSpPr>
        <a:xfrm>
          <a:off x="0" y="0"/>
          <a:ext cx="0" cy="0"/>
          <a:chOff x="0" y="0"/>
          <a:chExt cx="0" cy="0"/>
        </a:xfrm>
      </p:grpSpPr>
      <p:sp>
        <p:nvSpPr>
          <p:cNvPr id="125" name="Google Shape;125;p22"/>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Model Results + graphical </a:t>
            </a:r>
            <a:r>
              <a:rPr b="1" lang="en" sz="3300">
                <a:latin typeface="Amatic SC"/>
                <a:ea typeface="Amatic SC"/>
                <a:cs typeface="Amatic SC"/>
                <a:sym typeface="Amatic SC"/>
              </a:rPr>
              <a:t>analysis</a:t>
            </a:r>
            <a:endParaRPr b="1" sz="3300">
              <a:latin typeface="Amatic SC"/>
              <a:ea typeface="Amatic SC"/>
              <a:cs typeface="Amatic SC"/>
              <a:sym typeface="Amatic SC"/>
            </a:endParaRPr>
          </a:p>
        </p:txBody>
      </p:sp>
      <p:sp>
        <p:nvSpPr>
          <p:cNvPr id="126" name="Google Shape;126;p22"/>
          <p:cNvSpPr txBox="1"/>
          <p:nvPr>
            <p:ph idx="1" type="body"/>
          </p:nvPr>
        </p:nvSpPr>
        <p:spPr>
          <a:xfrm>
            <a:off x="311700" y="4374225"/>
            <a:ext cx="79953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300">
                <a:solidFill>
                  <a:schemeClr val="dk1"/>
                </a:solidFill>
                <a:latin typeface="Calibri"/>
                <a:ea typeface="Calibri"/>
                <a:cs typeface="Calibri"/>
                <a:sym typeface="Calibri"/>
              </a:rPr>
              <a:t>Figure 1. Inorganic phosphorus in the lake ecosystem over 100 years.</a:t>
            </a:r>
            <a:endParaRPr sz="1300">
              <a:solidFill>
                <a:schemeClr val="dk1"/>
              </a:solidFill>
              <a:latin typeface="Calibri"/>
              <a:ea typeface="Calibri"/>
              <a:cs typeface="Calibri"/>
              <a:sym typeface="Calibri"/>
            </a:endParaRPr>
          </a:p>
        </p:txBody>
      </p:sp>
      <p:pic>
        <p:nvPicPr>
          <p:cNvPr id="127" name="Google Shape;127;p22"/>
          <p:cNvPicPr preferRelativeResize="0"/>
          <p:nvPr/>
        </p:nvPicPr>
        <p:blipFill>
          <a:blip r:embed="rId3">
            <a:alphaModFix/>
          </a:blip>
          <a:stretch>
            <a:fillRect/>
          </a:stretch>
        </p:blipFill>
        <p:spPr>
          <a:xfrm>
            <a:off x="311700" y="721437"/>
            <a:ext cx="6008076" cy="3618900"/>
          </a:xfrm>
          <a:prstGeom prst="rect">
            <a:avLst/>
          </a:prstGeom>
          <a:noFill/>
          <a:ln>
            <a:noFill/>
          </a:ln>
        </p:spPr>
      </p:pic>
      <p:sp>
        <p:nvSpPr>
          <p:cNvPr id="128" name="Google Shape;128;p22"/>
          <p:cNvSpPr txBox="1"/>
          <p:nvPr/>
        </p:nvSpPr>
        <p:spPr>
          <a:xfrm>
            <a:off x="6554200" y="721425"/>
            <a:ext cx="2190600" cy="325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In the system, there is initially 1 mol of inorganic phosphorus, and after 32.9 years, the amount settles to 0.1008 mol and stops changing </a:t>
            </a:r>
            <a:endParaRPr sz="11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32" name="Shape 132"/>
        <p:cNvGrpSpPr/>
        <p:nvPr/>
      </p:nvGrpSpPr>
      <p:grpSpPr>
        <a:xfrm>
          <a:off x="0" y="0"/>
          <a:ext cx="0" cy="0"/>
          <a:chOff x="0" y="0"/>
          <a:chExt cx="0" cy="0"/>
        </a:xfrm>
      </p:grpSpPr>
      <p:sp>
        <p:nvSpPr>
          <p:cNvPr id="133" name="Google Shape;133;p23"/>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Model Results + graphical analysis</a:t>
            </a:r>
            <a:endParaRPr b="1" sz="3300">
              <a:latin typeface="Amatic SC"/>
              <a:ea typeface="Amatic SC"/>
              <a:cs typeface="Amatic SC"/>
              <a:sym typeface="Amatic SC"/>
            </a:endParaRPr>
          </a:p>
        </p:txBody>
      </p:sp>
      <p:sp>
        <p:nvSpPr>
          <p:cNvPr id="134" name="Google Shape;134;p23"/>
          <p:cNvSpPr txBox="1"/>
          <p:nvPr>
            <p:ph idx="1" type="body"/>
          </p:nvPr>
        </p:nvSpPr>
        <p:spPr>
          <a:xfrm>
            <a:off x="311700" y="4415100"/>
            <a:ext cx="79953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SzPts val="1018"/>
              <a:buNone/>
            </a:pPr>
            <a:r>
              <a:rPr lang="en" sz="1265">
                <a:solidFill>
                  <a:schemeClr val="dk1"/>
                </a:solidFill>
                <a:latin typeface="Calibri"/>
                <a:ea typeface="Calibri"/>
                <a:cs typeface="Calibri"/>
                <a:sym typeface="Calibri"/>
              </a:rPr>
              <a:t>Figure 2. Phosphorus in the living organic state in the lake ecosystem over 100 years.</a:t>
            </a:r>
            <a:endParaRPr sz="1265">
              <a:solidFill>
                <a:schemeClr val="dk1"/>
              </a:solidFill>
              <a:latin typeface="Calibri"/>
              <a:ea typeface="Calibri"/>
              <a:cs typeface="Calibri"/>
              <a:sym typeface="Calibri"/>
            </a:endParaRPr>
          </a:p>
        </p:txBody>
      </p:sp>
      <p:pic>
        <p:nvPicPr>
          <p:cNvPr id="135" name="Google Shape;135;p23"/>
          <p:cNvPicPr preferRelativeResize="0"/>
          <p:nvPr/>
        </p:nvPicPr>
        <p:blipFill>
          <a:blip r:embed="rId3">
            <a:alphaModFix/>
          </a:blip>
          <a:stretch>
            <a:fillRect/>
          </a:stretch>
        </p:blipFill>
        <p:spPr>
          <a:xfrm>
            <a:off x="383025" y="728400"/>
            <a:ext cx="6136415" cy="3686700"/>
          </a:xfrm>
          <a:prstGeom prst="rect">
            <a:avLst/>
          </a:prstGeom>
          <a:noFill/>
          <a:ln>
            <a:noFill/>
          </a:ln>
        </p:spPr>
      </p:pic>
      <p:sp>
        <p:nvSpPr>
          <p:cNvPr id="136" name="Google Shape;136;p23"/>
          <p:cNvSpPr txBox="1"/>
          <p:nvPr/>
        </p:nvSpPr>
        <p:spPr>
          <a:xfrm>
            <a:off x="6679050" y="786500"/>
            <a:ext cx="2284500" cy="357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phosphorus in living organic state: We start with 0.2 mol, and after 32.5 years, the amount settles at 0.1999 mol.</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40" name="Shape 140"/>
        <p:cNvGrpSpPr/>
        <p:nvPr/>
      </p:nvGrpSpPr>
      <p:grpSpPr>
        <a:xfrm>
          <a:off x="0" y="0"/>
          <a:ext cx="0" cy="0"/>
          <a:chOff x="0" y="0"/>
          <a:chExt cx="0" cy="0"/>
        </a:xfrm>
      </p:grpSpPr>
      <p:sp>
        <p:nvSpPr>
          <p:cNvPr id="141" name="Google Shape;141;p24"/>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Model Results + graphical analysis</a:t>
            </a:r>
            <a:endParaRPr b="1" sz="3300">
              <a:latin typeface="Amatic SC"/>
              <a:ea typeface="Amatic SC"/>
              <a:cs typeface="Amatic SC"/>
              <a:sym typeface="Amatic SC"/>
            </a:endParaRPr>
          </a:p>
        </p:txBody>
      </p:sp>
      <p:sp>
        <p:nvSpPr>
          <p:cNvPr id="142" name="Google Shape;142;p24"/>
          <p:cNvSpPr txBox="1"/>
          <p:nvPr>
            <p:ph idx="1" type="body"/>
          </p:nvPr>
        </p:nvSpPr>
        <p:spPr>
          <a:xfrm>
            <a:off x="372175" y="4498450"/>
            <a:ext cx="86418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300">
                <a:solidFill>
                  <a:schemeClr val="dk1"/>
                </a:solidFill>
                <a:latin typeface="Calibri"/>
                <a:ea typeface="Calibri"/>
                <a:cs typeface="Calibri"/>
                <a:sym typeface="Calibri"/>
              </a:rPr>
              <a:t>Figure 3. Phosphorus in the dead organic state in the lake ecosystem over 100 years.</a:t>
            </a:r>
            <a:endParaRPr sz="1300">
              <a:solidFill>
                <a:schemeClr val="dk1"/>
              </a:solidFill>
              <a:latin typeface="Calibri"/>
              <a:ea typeface="Calibri"/>
              <a:cs typeface="Calibri"/>
              <a:sym typeface="Calibri"/>
            </a:endParaRPr>
          </a:p>
        </p:txBody>
      </p:sp>
      <p:pic>
        <p:nvPicPr>
          <p:cNvPr id="143" name="Google Shape;143;p24"/>
          <p:cNvPicPr preferRelativeResize="0"/>
          <p:nvPr/>
        </p:nvPicPr>
        <p:blipFill>
          <a:blip r:embed="rId3">
            <a:alphaModFix/>
          </a:blip>
          <a:stretch>
            <a:fillRect/>
          </a:stretch>
        </p:blipFill>
        <p:spPr>
          <a:xfrm>
            <a:off x="372184" y="726350"/>
            <a:ext cx="6039975" cy="3772100"/>
          </a:xfrm>
          <a:prstGeom prst="rect">
            <a:avLst/>
          </a:prstGeom>
          <a:noFill/>
          <a:ln>
            <a:noFill/>
          </a:ln>
        </p:spPr>
      </p:pic>
      <p:sp>
        <p:nvSpPr>
          <p:cNvPr id="144" name="Google Shape;144;p24"/>
          <p:cNvSpPr txBox="1"/>
          <p:nvPr/>
        </p:nvSpPr>
        <p:spPr>
          <a:xfrm>
            <a:off x="6654100" y="774025"/>
            <a:ext cx="2178300" cy="372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phosphorus in the dead organic state: We start with 0.1mol and eventually after 30.8 years it reaches steady state, where there is 0.9993 mol.</a:t>
            </a: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48" name="Shape 148"/>
        <p:cNvGrpSpPr/>
        <p:nvPr/>
      </p:nvGrpSpPr>
      <p:grpSpPr>
        <a:xfrm>
          <a:off x="0" y="0"/>
          <a:ext cx="0" cy="0"/>
          <a:chOff x="0" y="0"/>
          <a:chExt cx="0" cy="0"/>
        </a:xfrm>
      </p:grpSpPr>
      <p:sp>
        <p:nvSpPr>
          <p:cNvPr id="149" name="Google Shape;149;p25"/>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solidFill>
                  <a:srgbClr val="000000"/>
                </a:solidFill>
                <a:latin typeface="Amatic SC"/>
                <a:ea typeface="Amatic SC"/>
                <a:cs typeface="Amatic SC"/>
                <a:sym typeface="Amatic SC"/>
              </a:rPr>
              <a:t>How sensitive are the results to changes in parameters (converters)?</a:t>
            </a:r>
            <a:endParaRPr b="1" sz="3300">
              <a:solidFill>
                <a:srgbClr val="000000"/>
              </a:solidFill>
              <a:latin typeface="Amatic SC"/>
              <a:ea typeface="Amatic SC"/>
              <a:cs typeface="Amatic SC"/>
              <a:sym typeface="Amatic SC"/>
            </a:endParaRPr>
          </a:p>
          <a:p>
            <a:pPr indent="0" lvl="0" marL="0" rtl="0" algn="l">
              <a:spcBef>
                <a:spcPts val="0"/>
              </a:spcBef>
              <a:spcAft>
                <a:spcPts val="0"/>
              </a:spcAft>
              <a:buNone/>
            </a:pPr>
            <a:r>
              <a:t/>
            </a:r>
            <a:endParaRPr b="1" sz="3300">
              <a:latin typeface="Amatic SC"/>
              <a:ea typeface="Amatic SC"/>
              <a:cs typeface="Amatic SC"/>
              <a:sym typeface="Amatic SC"/>
            </a:endParaRPr>
          </a:p>
        </p:txBody>
      </p:sp>
      <p:sp>
        <p:nvSpPr>
          <p:cNvPr id="150" name="Google Shape;150;p25"/>
          <p:cNvSpPr txBox="1"/>
          <p:nvPr/>
        </p:nvSpPr>
        <p:spPr>
          <a:xfrm>
            <a:off x="174300" y="463350"/>
            <a:ext cx="85206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Changes in death rate (d)</a:t>
            </a:r>
            <a:endParaRPr b="1" sz="1600">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Significantly changes final amounts of L(t) and I(t) but not D(t)</a:t>
            </a:r>
            <a:endParaRPr sz="1600">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E.g. Increasing death rate by 2 doubles final I(t) and halves L(t)</a:t>
            </a:r>
            <a:endParaRPr sz="1600">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Change to shape of graphs:</a:t>
            </a:r>
            <a:endParaRPr sz="1600">
              <a:solidFill>
                <a:schemeClr val="dk1"/>
              </a:solidFill>
            </a:endParaRPr>
          </a:p>
          <a:p>
            <a:pPr indent="0" lvl="0" marL="0" rtl="0" algn="l">
              <a:spcBef>
                <a:spcPts val="0"/>
              </a:spcBef>
              <a:spcAft>
                <a:spcPts val="0"/>
              </a:spcAft>
              <a:buNone/>
            </a:pPr>
            <a:r>
              <a:t/>
            </a:r>
            <a:endParaRPr sz="1800">
              <a:solidFill>
                <a:schemeClr val="dk1"/>
              </a:solidFill>
            </a:endParaRPr>
          </a:p>
        </p:txBody>
      </p:sp>
      <p:pic>
        <p:nvPicPr>
          <p:cNvPr id="151" name="Google Shape;151;p25"/>
          <p:cNvPicPr preferRelativeResize="0"/>
          <p:nvPr/>
        </p:nvPicPr>
        <p:blipFill>
          <a:blip r:embed="rId3">
            <a:alphaModFix/>
          </a:blip>
          <a:stretch>
            <a:fillRect/>
          </a:stretch>
        </p:blipFill>
        <p:spPr>
          <a:xfrm>
            <a:off x="767874" y="1943022"/>
            <a:ext cx="2210200" cy="1378075"/>
          </a:xfrm>
          <a:prstGeom prst="rect">
            <a:avLst/>
          </a:prstGeom>
          <a:noFill/>
          <a:ln>
            <a:noFill/>
          </a:ln>
        </p:spPr>
      </p:pic>
      <p:sp>
        <p:nvSpPr>
          <p:cNvPr id="152" name="Google Shape;152;p25"/>
          <p:cNvSpPr txBox="1"/>
          <p:nvPr/>
        </p:nvSpPr>
        <p:spPr>
          <a:xfrm>
            <a:off x="174300" y="3892400"/>
            <a:ext cx="8619900" cy="11853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Char char="-"/>
            </a:pPr>
            <a:r>
              <a:rPr b="1" lang="en" sz="1600">
                <a:solidFill>
                  <a:schemeClr val="dk1"/>
                </a:solidFill>
              </a:rPr>
              <a:t>Changes in decomposition rate (c):</a:t>
            </a:r>
            <a:endParaRPr b="1" sz="1600">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Significantly changes final L(t), slightly changes D(t), and does not change I(t)</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Changes in uptake rate (u)</a:t>
            </a:r>
            <a:endParaRPr b="1" sz="1600">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Significantly c</a:t>
            </a:r>
            <a:r>
              <a:rPr lang="en" sz="1600">
                <a:solidFill>
                  <a:schemeClr val="dk1"/>
                </a:solidFill>
              </a:rPr>
              <a:t>hanges final I(t) but minimal changes in L(t) and D(t) </a:t>
            </a:r>
            <a:endParaRPr sz="1600">
              <a:solidFill>
                <a:schemeClr val="dk1"/>
              </a:solidFill>
            </a:endParaRPr>
          </a:p>
        </p:txBody>
      </p:sp>
      <p:pic>
        <p:nvPicPr>
          <p:cNvPr id="153" name="Google Shape;153;p25"/>
          <p:cNvPicPr preferRelativeResize="0"/>
          <p:nvPr/>
        </p:nvPicPr>
        <p:blipFill>
          <a:blip r:embed="rId4">
            <a:alphaModFix/>
          </a:blip>
          <a:stretch>
            <a:fillRect/>
          </a:stretch>
        </p:blipFill>
        <p:spPr>
          <a:xfrm>
            <a:off x="3722813" y="1943025"/>
            <a:ext cx="1894527" cy="1378076"/>
          </a:xfrm>
          <a:prstGeom prst="rect">
            <a:avLst/>
          </a:prstGeom>
          <a:noFill/>
          <a:ln>
            <a:noFill/>
          </a:ln>
        </p:spPr>
      </p:pic>
      <p:pic>
        <p:nvPicPr>
          <p:cNvPr id="154" name="Google Shape;154;p25"/>
          <p:cNvPicPr preferRelativeResize="0"/>
          <p:nvPr/>
        </p:nvPicPr>
        <p:blipFill>
          <a:blip r:embed="rId5">
            <a:alphaModFix/>
          </a:blip>
          <a:stretch>
            <a:fillRect/>
          </a:stretch>
        </p:blipFill>
        <p:spPr>
          <a:xfrm>
            <a:off x="6362075" y="1943025"/>
            <a:ext cx="1932507" cy="1378075"/>
          </a:xfrm>
          <a:prstGeom prst="rect">
            <a:avLst/>
          </a:prstGeom>
          <a:noFill/>
          <a:ln>
            <a:noFill/>
          </a:ln>
        </p:spPr>
      </p:pic>
      <p:sp>
        <p:nvSpPr>
          <p:cNvPr id="155" name="Google Shape;155;p25"/>
          <p:cNvSpPr txBox="1"/>
          <p:nvPr/>
        </p:nvSpPr>
        <p:spPr>
          <a:xfrm>
            <a:off x="692675" y="3245900"/>
            <a:ext cx="2545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Figure 4.</a:t>
            </a:r>
            <a:r>
              <a:rPr lang="en" sz="1000">
                <a:solidFill>
                  <a:schemeClr val="dk1"/>
                </a:solidFill>
              </a:rPr>
              <a:t> </a:t>
            </a:r>
            <a:r>
              <a:rPr lang="en" sz="1000">
                <a:solidFill>
                  <a:schemeClr val="dk1"/>
                </a:solidFill>
                <a:latin typeface="Calibri"/>
                <a:ea typeface="Calibri"/>
                <a:cs typeface="Calibri"/>
                <a:sym typeface="Calibri"/>
              </a:rPr>
              <a:t>Inorganic phosphorus in the lake ecosystem when death rate is increased.</a:t>
            </a:r>
            <a:r>
              <a:rPr lang="en" sz="1000">
                <a:solidFill>
                  <a:schemeClr val="dk1"/>
                </a:solidFill>
              </a:rPr>
              <a:t> </a:t>
            </a:r>
            <a:endParaRPr sz="1000">
              <a:solidFill>
                <a:schemeClr val="dk1"/>
              </a:solidFill>
            </a:endParaRPr>
          </a:p>
        </p:txBody>
      </p:sp>
      <p:sp>
        <p:nvSpPr>
          <p:cNvPr id="156" name="Google Shape;156;p25"/>
          <p:cNvSpPr txBox="1"/>
          <p:nvPr/>
        </p:nvSpPr>
        <p:spPr>
          <a:xfrm>
            <a:off x="3563500" y="3245900"/>
            <a:ext cx="2545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Figure 5. Phosphorus in living organic state</a:t>
            </a:r>
            <a:r>
              <a:rPr lang="en" sz="1000">
                <a:solidFill>
                  <a:schemeClr val="dk1"/>
                </a:solidFill>
                <a:latin typeface="Calibri"/>
                <a:ea typeface="Calibri"/>
                <a:cs typeface="Calibri"/>
                <a:sym typeface="Calibri"/>
              </a:rPr>
              <a:t> in the lake ecosystem when death rate is increased.</a:t>
            </a:r>
            <a:r>
              <a:rPr lang="en" sz="1000">
                <a:solidFill>
                  <a:schemeClr val="dk1"/>
                </a:solidFill>
              </a:rPr>
              <a:t> </a:t>
            </a:r>
            <a:endParaRPr sz="1000">
              <a:solidFill>
                <a:schemeClr val="dk1"/>
              </a:solidFill>
            </a:endParaRPr>
          </a:p>
        </p:txBody>
      </p:sp>
      <p:sp>
        <p:nvSpPr>
          <p:cNvPr id="157" name="Google Shape;157;p25"/>
          <p:cNvSpPr txBox="1"/>
          <p:nvPr/>
        </p:nvSpPr>
        <p:spPr>
          <a:xfrm>
            <a:off x="6248400" y="3245900"/>
            <a:ext cx="2545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Figure 6. Phosphorus in dead organic state</a:t>
            </a:r>
            <a:r>
              <a:rPr lang="en" sz="1000">
                <a:solidFill>
                  <a:schemeClr val="dk1"/>
                </a:solidFill>
                <a:latin typeface="Calibri"/>
                <a:ea typeface="Calibri"/>
                <a:cs typeface="Calibri"/>
                <a:sym typeface="Calibri"/>
              </a:rPr>
              <a:t> in the lake ecosystem when death rate is increased.</a:t>
            </a:r>
            <a:r>
              <a:rPr lang="en" sz="1000">
                <a:solidFill>
                  <a:schemeClr val="dk1"/>
                </a:solidFill>
              </a:rPr>
              <a:t> </a:t>
            </a:r>
            <a:endParaRPr sz="10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61" name="Shape 161"/>
        <p:cNvGrpSpPr/>
        <p:nvPr/>
      </p:nvGrpSpPr>
      <p:grpSpPr>
        <a:xfrm>
          <a:off x="0" y="0"/>
          <a:ext cx="0" cy="0"/>
          <a:chOff x="0" y="0"/>
          <a:chExt cx="0" cy="0"/>
        </a:xfrm>
      </p:grpSpPr>
      <p:sp>
        <p:nvSpPr>
          <p:cNvPr id="162" name="Google Shape;162;p26"/>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How sensitive are the results to changes in parameters (reservoirs)?</a:t>
            </a:r>
            <a:endParaRPr b="1" sz="3300">
              <a:latin typeface="Amatic SC"/>
              <a:ea typeface="Amatic SC"/>
              <a:cs typeface="Amatic SC"/>
              <a:sym typeface="Amatic SC"/>
            </a:endParaRPr>
          </a:p>
        </p:txBody>
      </p:sp>
      <p:sp>
        <p:nvSpPr>
          <p:cNvPr id="163" name="Google Shape;163;p26"/>
          <p:cNvSpPr txBox="1"/>
          <p:nvPr/>
        </p:nvSpPr>
        <p:spPr>
          <a:xfrm>
            <a:off x="411500" y="1000850"/>
            <a:ext cx="8305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64" name="Google Shape;164;p26"/>
          <p:cNvSpPr txBox="1"/>
          <p:nvPr/>
        </p:nvSpPr>
        <p:spPr>
          <a:xfrm>
            <a:off x="559375" y="1094100"/>
            <a:ext cx="8004600" cy="3232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Results are sensitive to changes in I(t)</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Increasing I(t) by 2 -&gt; increases L(t) from 0.1999 mol to 0.3665 mol and D(t) from 0.9993 mol to 1.8327 mol (around 2 times increase)</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Decreasing I(t) by 2 -&gt; decreases L(t) and D(t) by around 2 times</a:t>
            </a:r>
            <a:endParaRPr sz="1800">
              <a:solidFill>
                <a:schemeClr val="dk1"/>
              </a:solidFill>
            </a:endParaRPr>
          </a:p>
          <a:p>
            <a:pPr indent="0" lvl="0" marL="9144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Results are not as </a:t>
            </a:r>
            <a:r>
              <a:rPr lang="en" sz="1800">
                <a:solidFill>
                  <a:schemeClr val="dk1"/>
                </a:solidFill>
              </a:rPr>
              <a:t>sensitive</a:t>
            </a:r>
            <a:r>
              <a:rPr lang="en" sz="1800">
                <a:solidFill>
                  <a:schemeClr val="dk1"/>
                </a:solidFill>
              </a:rPr>
              <a:t> to changes in L(t) and D(t)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Increasing either -&gt; small increases in L(t) and D(t)</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Decreasing either -&gt; small decreases in L(t) or D(t)</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Changing I(t), L(t) and D(t) do not change the final steady state amount of I(t)</a:t>
            </a:r>
            <a:endParaRPr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68" name="Shape 168"/>
        <p:cNvGrpSpPr/>
        <p:nvPr/>
      </p:nvGrpSpPr>
      <p:grpSpPr>
        <a:xfrm>
          <a:off x="0" y="0"/>
          <a:ext cx="0" cy="0"/>
          <a:chOff x="0" y="0"/>
          <a:chExt cx="0" cy="0"/>
        </a:xfrm>
      </p:grpSpPr>
      <p:sp>
        <p:nvSpPr>
          <p:cNvPr id="169" name="Google Shape;169;p27"/>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Scenario 1</a:t>
            </a:r>
            <a:endParaRPr b="1" sz="3300">
              <a:latin typeface="Amatic SC"/>
              <a:ea typeface="Amatic SC"/>
              <a:cs typeface="Amatic SC"/>
              <a:sym typeface="Amatic SC"/>
            </a:endParaRPr>
          </a:p>
        </p:txBody>
      </p:sp>
      <p:sp>
        <p:nvSpPr>
          <p:cNvPr id="170" name="Google Shape;170;p27"/>
          <p:cNvSpPr txBox="1"/>
          <p:nvPr>
            <p:ph idx="1" type="body"/>
          </p:nvPr>
        </p:nvSpPr>
        <p:spPr>
          <a:xfrm>
            <a:off x="474025" y="1326225"/>
            <a:ext cx="7995300" cy="278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200">
                <a:solidFill>
                  <a:schemeClr val="dk1"/>
                </a:solidFill>
                <a:latin typeface="Calibri"/>
                <a:ea typeface="Calibri"/>
                <a:cs typeface="Calibri"/>
                <a:sym typeface="Calibri"/>
              </a:rPr>
              <a:t>1 mol of inorganic phosphorus is inputted into the ecosystem in 1 year after the systems had reached steady state.</a:t>
            </a:r>
            <a:endParaRPr b="1" sz="2200">
              <a:solidFill>
                <a:schemeClr val="dk1"/>
              </a:solidFill>
              <a:latin typeface="Calibri"/>
              <a:ea typeface="Calibri"/>
              <a:cs typeface="Calibri"/>
              <a:sym typeface="Calibri"/>
            </a:endParaRPr>
          </a:p>
          <a:p>
            <a:pPr indent="0" lvl="0" marL="0" rtl="0" algn="l">
              <a:spcBef>
                <a:spcPts val="1200"/>
              </a:spcBef>
              <a:spcAft>
                <a:spcPts val="0"/>
              </a:spcAft>
              <a:buNone/>
            </a:pPr>
            <a:r>
              <a:t/>
            </a:r>
            <a:endParaRPr b="1" sz="2200">
              <a:solidFill>
                <a:schemeClr val="dk1"/>
              </a:solidFill>
              <a:latin typeface="Calibri"/>
              <a:ea typeface="Calibri"/>
              <a:cs typeface="Calibri"/>
              <a:sym typeface="Calibri"/>
            </a:endParaRPr>
          </a:p>
          <a:p>
            <a:pPr indent="0" lvl="0" marL="0" rtl="0" algn="l">
              <a:spcBef>
                <a:spcPts val="1200"/>
              </a:spcBef>
              <a:spcAft>
                <a:spcPts val="0"/>
              </a:spcAft>
              <a:buNone/>
            </a:pPr>
            <a:r>
              <a:rPr b="1" lang="en" sz="2200">
                <a:solidFill>
                  <a:schemeClr val="dk1"/>
                </a:solidFill>
                <a:latin typeface="Calibri"/>
                <a:ea typeface="Calibri"/>
                <a:cs typeface="Calibri"/>
                <a:sym typeface="Calibri"/>
              </a:rPr>
              <a:t>Year of reaching steady state: year 40.</a:t>
            </a:r>
            <a:endParaRPr b="1" sz="2200">
              <a:solidFill>
                <a:schemeClr val="dk1"/>
              </a:solidFill>
              <a:latin typeface="Calibri"/>
              <a:ea typeface="Calibri"/>
              <a:cs typeface="Calibri"/>
              <a:sym typeface="Calibri"/>
            </a:endParaRPr>
          </a:p>
          <a:p>
            <a:pPr indent="0" lvl="0" marL="0" rtl="0" algn="l">
              <a:spcBef>
                <a:spcPts val="1200"/>
              </a:spcBef>
              <a:spcAft>
                <a:spcPts val="1200"/>
              </a:spcAft>
              <a:buNone/>
            </a:pPr>
            <a:r>
              <a:t/>
            </a:r>
            <a:endParaRPr b="1" sz="22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74" name="Shape 174"/>
        <p:cNvGrpSpPr/>
        <p:nvPr/>
      </p:nvGrpSpPr>
      <p:grpSpPr>
        <a:xfrm>
          <a:off x="0" y="0"/>
          <a:ext cx="0" cy="0"/>
          <a:chOff x="0" y="0"/>
          <a:chExt cx="0" cy="0"/>
        </a:xfrm>
      </p:grpSpPr>
      <p:sp>
        <p:nvSpPr>
          <p:cNvPr id="175" name="Google Shape;175;p28"/>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Scenario 1</a:t>
            </a:r>
            <a:endParaRPr b="1" sz="3300">
              <a:latin typeface="Amatic SC"/>
              <a:ea typeface="Amatic SC"/>
              <a:cs typeface="Amatic SC"/>
              <a:sym typeface="Amatic SC"/>
            </a:endParaRPr>
          </a:p>
        </p:txBody>
      </p:sp>
      <p:pic>
        <p:nvPicPr>
          <p:cNvPr id="176" name="Google Shape;176;p28"/>
          <p:cNvPicPr preferRelativeResize="0"/>
          <p:nvPr/>
        </p:nvPicPr>
        <p:blipFill>
          <a:blip r:embed="rId3">
            <a:alphaModFix/>
          </a:blip>
          <a:stretch>
            <a:fillRect/>
          </a:stretch>
        </p:blipFill>
        <p:spPr>
          <a:xfrm>
            <a:off x="341956" y="687525"/>
            <a:ext cx="6258874" cy="3768775"/>
          </a:xfrm>
          <a:prstGeom prst="rect">
            <a:avLst/>
          </a:prstGeom>
          <a:noFill/>
          <a:ln>
            <a:noFill/>
          </a:ln>
        </p:spPr>
      </p:pic>
      <p:sp>
        <p:nvSpPr>
          <p:cNvPr id="177" name="Google Shape;177;p28"/>
          <p:cNvSpPr txBox="1"/>
          <p:nvPr>
            <p:ph idx="1" type="body"/>
          </p:nvPr>
        </p:nvSpPr>
        <p:spPr>
          <a:xfrm>
            <a:off x="372175" y="4498450"/>
            <a:ext cx="86418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300">
                <a:solidFill>
                  <a:schemeClr val="dk1"/>
                </a:solidFill>
                <a:latin typeface="Calibri"/>
                <a:ea typeface="Calibri"/>
                <a:cs typeface="Calibri"/>
                <a:sym typeface="Calibri"/>
              </a:rPr>
              <a:t>Figure 7. Inorganic phosphorus in the lake ecosystem over 100 years, with an input of 1 mol inorganic phosphorus at year 40.</a:t>
            </a:r>
            <a:endParaRPr sz="1300">
              <a:solidFill>
                <a:schemeClr val="dk1"/>
              </a:solidFill>
              <a:latin typeface="Calibri"/>
              <a:ea typeface="Calibri"/>
              <a:cs typeface="Calibri"/>
              <a:sym typeface="Calibri"/>
            </a:endParaRPr>
          </a:p>
        </p:txBody>
      </p:sp>
      <p:sp>
        <p:nvSpPr>
          <p:cNvPr id="178" name="Google Shape;178;p28"/>
          <p:cNvSpPr txBox="1"/>
          <p:nvPr/>
        </p:nvSpPr>
        <p:spPr>
          <a:xfrm>
            <a:off x="6721800" y="687525"/>
            <a:ext cx="2110500" cy="325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dk1"/>
                </a:solidFill>
              </a:rPr>
              <a:t>The inorganic phosphorus system reached a new steady state at 60.6 years, which is 21 years after the inorganic phosphorus was inputted.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The amount of inorganic phosphorus in the new steady state is the same as the original steady state (remains 0.1008 mol).</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82" name="Shape 182"/>
        <p:cNvGrpSpPr/>
        <p:nvPr/>
      </p:nvGrpSpPr>
      <p:grpSpPr>
        <a:xfrm>
          <a:off x="0" y="0"/>
          <a:ext cx="0" cy="0"/>
          <a:chOff x="0" y="0"/>
          <a:chExt cx="0" cy="0"/>
        </a:xfrm>
      </p:grpSpPr>
      <p:sp>
        <p:nvSpPr>
          <p:cNvPr id="183" name="Google Shape;183;p29"/>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Scenario 1</a:t>
            </a:r>
            <a:endParaRPr b="1" sz="3300">
              <a:latin typeface="Amatic SC"/>
              <a:ea typeface="Amatic SC"/>
              <a:cs typeface="Amatic SC"/>
              <a:sym typeface="Amatic SC"/>
            </a:endParaRPr>
          </a:p>
        </p:txBody>
      </p:sp>
      <p:sp>
        <p:nvSpPr>
          <p:cNvPr id="184" name="Google Shape;184;p29"/>
          <p:cNvSpPr txBox="1"/>
          <p:nvPr>
            <p:ph idx="1" type="body"/>
          </p:nvPr>
        </p:nvSpPr>
        <p:spPr>
          <a:xfrm>
            <a:off x="372175" y="4498450"/>
            <a:ext cx="8641800" cy="57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sz="1300">
                <a:solidFill>
                  <a:schemeClr val="dk1"/>
                </a:solidFill>
                <a:latin typeface="Calibri"/>
                <a:ea typeface="Calibri"/>
                <a:cs typeface="Calibri"/>
                <a:sym typeface="Calibri"/>
              </a:rPr>
              <a:t>Figure 8. Phosphorus in the living organic state in the lake ecosystem over 100 years, with an input of 1 mol inorganic phosphorus at year 40.</a:t>
            </a:r>
            <a:endParaRPr sz="1300">
              <a:solidFill>
                <a:schemeClr val="dk1"/>
              </a:solidFill>
              <a:latin typeface="Calibri"/>
              <a:ea typeface="Calibri"/>
              <a:cs typeface="Calibri"/>
              <a:sym typeface="Calibri"/>
            </a:endParaRPr>
          </a:p>
        </p:txBody>
      </p:sp>
      <p:pic>
        <p:nvPicPr>
          <p:cNvPr id="185" name="Google Shape;185;p29"/>
          <p:cNvPicPr preferRelativeResize="0"/>
          <p:nvPr/>
        </p:nvPicPr>
        <p:blipFill>
          <a:blip r:embed="rId3">
            <a:alphaModFix/>
          </a:blip>
          <a:stretch>
            <a:fillRect/>
          </a:stretch>
        </p:blipFill>
        <p:spPr>
          <a:xfrm>
            <a:off x="372175" y="687525"/>
            <a:ext cx="6332860" cy="3810925"/>
          </a:xfrm>
          <a:prstGeom prst="rect">
            <a:avLst/>
          </a:prstGeom>
          <a:noFill/>
          <a:ln>
            <a:noFill/>
          </a:ln>
        </p:spPr>
      </p:pic>
      <p:sp>
        <p:nvSpPr>
          <p:cNvPr id="186" name="Google Shape;186;p29"/>
          <p:cNvSpPr txBox="1"/>
          <p:nvPr/>
        </p:nvSpPr>
        <p:spPr>
          <a:xfrm>
            <a:off x="6721800" y="687525"/>
            <a:ext cx="2110500" cy="325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dk1"/>
                </a:solidFill>
              </a:rPr>
              <a:t>Phosphorus in the living organic </a:t>
            </a:r>
            <a:r>
              <a:rPr lang="en" sz="1100">
                <a:solidFill>
                  <a:schemeClr val="dk1"/>
                </a:solidFill>
              </a:rPr>
              <a:t>state</a:t>
            </a:r>
            <a:r>
              <a:rPr lang="en" sz="1100">
                <a:solidFill>
                  <a:schemeClr val="dk1"/>
                </a:solidFill>
              </a:rPr>
              <a:t> reached a new steady state at 60.3 years, which is around 20 years after the inorganic phosphorus input.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This new steady state amount is 0.3665 mol, which is greater than the original steady state value for living organic phosphorus.</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90" name="Shape 190"/>
        <p:cNvGrpSpPr/>
        <p:nvPr/>
      </p:nvGrpSpPr>
      <p:grpSpPr>
        <a:xfrm>
          <a:off x="0" y="0"/>
          <a:ext cx="0" cy="0"/>
          <a:chOff x="0" y="0"/>
          <a:chExt cx="0" cy="0"/>
        </a:xfrm>
      </p:grpSpPr>
      <p:sp>
        <p:nvSpPr>
          <p:cNvPr id="191" name="Google Shape;191;p30"/>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Scenario 1</a:t>
            </a:r>
            <a:endParaRPr b="1" sz="3300">
              <a:latin typeface="Amatic SC"/>
              <a:ea typeface="Amatic SC"/>
              <a:cs typeface="Amatic SC"/>
              <a:sym typeface="Amatic SC"/>
            </a:endParaRPr>
          </a:p>
        </p:txBody>
      </p:sp>
      <p:sp>
        <p:nvSpPr>
          <p:cNvPr id="192" name="Google Shape;192;p30"/>
          <p:cNvSpPr txBox="1"/>
          <p:nvPr>
            <p:ph idx="1" type="body"/>
          </p:nvPr>
        </p:nvSpPr>
        <p:spPr>
          <a:xfrm>
            <a:off x="372175" y="4498450"/>
            <a:ext cx="8641800" cy="57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sz="1300">
                <a:solidFill>
                  <a:schemeClr val="dk1"/>
                </a:solidFill>
                <a:latin typeface="Calibri"/>
                <a:ea typeface="Calibri"/>
                <a:cs typeface="Calibri"/>
                <a:sym typeface="Calibri"/>
              </a:rPr>
              <a:t>Figure 9. Phosphorus in the dead organic state in the lake ecosystem over 100 years, with an input of 1 mol inorganic phosphorus at year 40.</a:t>
            </a:r>
            <a:endParaRPr sz="1300">
              <a:solidFill>
                <a:schemeClr val="dk1"/>
              </a:solidFill>
              <a:latin typeface="Calibri"/>
              <a:ea typeface="Calibri"/>
              <a:cs typeface="Calibri"/>
              <a:sym typeface="Calibri"/>
            </a:endParaRPr>
          </a:p>
        </p:txBody>
      </p:sp>
      <p:pic>
        <p:nvPicPr>
          <p:cNvPr id="193" name="Google Shape;193;p30"/>
          <p:cNvPicPr preferRelativeResize="0"/>
          <p:nvPr/>
        </p:nvPicPr>
        <p:blipFill>
          <a:blip r:embed="rId3">
            <a:alphaModFix/>
          </a:blip>
          <a:stretch>
            <a:fillRect/>
          </a:stretch>
        </p:blipFill>
        <p:spPr>
          <a:xfrm>
            <a:off x="311700" y="687525"/>
            <a:ext cx="6109974" cy="3810925"/>
          </a:xfrm>
          <a:prstGeom prst="rect">
            <a:avLst/>
          </a:prstGeom>
          <a:noFill/>
          <a:ln>
            <a:noFill/>
          </a:ln>
        </p:spPr>
      </p:pic>
      <p:sp>
        <p:nvSpPr>
          <p:cNvPr id="194" name="Google Shape;194;p30"/>
          <p:cNvSpPr txBox="1"/>
          <p:nvPr/>
        </p:nvSpPr>
        <p:spPr>
          <a:xfrm>
            <a:off x="6721800" y="687525"/>
            <a:ext cx="2110500" cy="325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dk1"/>
                </a:solidFill>
              </a:rPr>
              <a:t>Phosphorus in the dead organic state, reached a new steady state at 58.4 years, which is around 18 years after the inorganic phosphorus input.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The new steady state amount is 1.8327, which is also larger than the original steady state value.</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98" name="Shape 198"/>
        <p:cNvGrpSpPr/>
        <p:nvPr/>
      </p:nvGrpSpPr>
      <p:grpSpPr>
        <a:xfrm>
          <a:off x="0" y="0"/>
          <a:ext cx="0" cy="0"/>
          <a:chOff x="0" y="0"/>
          <a:chExt cx="0" cy="0"/>
        </a:xfrm>
      </p:grpSpPr>
      <p:sp>
        <p:nvSpPr>
          <p:cNvPr id="199" name="Google Shape;199;p31"/>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Scenario 2</a:t>
            </a:r>
            <a:endParaRPr b="1" sz="3300">
              <a:latin typeface="Amatic SC"/>
              <a:ea typeface="Amatic SC"/>
              <a:cs typeface="Amatic SC"/>
              <a:sym typeface="Amatic SC"/>
            </a:endParaRPr>
          </a:p>
        </p:txBody>
      </p:sp>
      <p:sp>
        <p:nvSpPr>
          <p:cNvPr id="200" name="Google Shape;200;p31"/>
          <p:cNvSpPr txBox="1"/>
          <p:nvPr>
            <p:ph idx="1" type="body"/>
          </p:nvPr>
        </p:nvSpPr>
        <p:spPr>
          <a:xfrm>
            <a:off x="417600" y="1265650"/>
            <a:ext cx="8641800" cy="3615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2200">
                <a:solidFill>
                  <a:schemeClr val="dk1"/>
                </a:solidFill>
                <a:latin typeface="Calibri"/>
                <a:ea typeface="Calibri"/>
                <a:cs typeface="Calibri"/>
                <a:sym typeface="Calibri"/>
              </a:rPr>
              <a:t>0.1 mol of inorganic phosphorus is added to the system at each time interval of 0.1 years starting from year 40 to year 50.</a:t>
            </a:r>
            <a:endParaRPr b="1" sz="2200">
              <a:solidFill>
                <a:schemeClr val="dk1"/>
              </a:solidFill>
              <a:latin typeface="Calibri"/>
              <a:ea typeface="Calibri"/>
              <a:cs typeface="Calibri"/>
              <a:sym typeface="Calibri"/>
            </a:endParaRPr>
          </a:p>
          <a:p>
            <a:pPr indent="0" lvl="0" marL="0" rtl="0" algn="l">
              <a:spcBef>
                <a:spcPts val="1200"/>
              </a:spcBef>
              <a:spcAft>
                <a:spcPts val="0"/>
              </a:spcAft>
              <a:buNone/>
            </a:pPr>
            <a:r>
              <a:t/>
            </a:r>
            <a:endParaRPr b="1" sz="2200">
              <a:solidFill>
                <a:schemeClr val="dk1"/>
              </a:solidFill>
              <a:latin typeface="Calibri"/>
              <a:ea typeface="Calibri"/>
              <a:cs typeface="Calibri"/>
              <a:sym typeface="Calibri"/>
            </a:endParaRPr>
          </a:p>
          <a:p>
            <a:pPr indent="0" lvl="0" marL="0" rtl="0" algn="l">
              <a:spcBef>
                <a:spcPts val="1200"/>
              </a:spcBef>
              <a:spcAft>
                <a:spcPts val="0"/>
              </a:spcAft>
              <a:buNone/>
            </a:pPr>
            <a:r>
              <a:rPr b="1" lang="en" sz="2200">
                <a:solidFill>
                  <a:schemeClr val="dk1"/>
                </a:solidFill>
                <a:latin typeface="Calibri"/>
                <a:ea typeface="Calibri"/>
                <a:cs typeface="Calibri"/>
                <a:sym typeface="Calibri"/>
              </a:rPr>
              <a:t>In total: 1 mol of phosphorus added to the system over 10 years. </a:t>
            </a:r>
            <a:endParaRPr b="1" sz="2200">
              <a:solidFill>
                <a:schemeClr val="dk1"/>
              </a:solidFill>
              <a:latin typeface="Calibri"/>
              <a:ea typeface="Calibri"/>
              <a:cs typeface="Calibri"/>
              <a:sym typeface="Calibri"/>
            </a:endParaRPr>
          </a:p>
          <a:p>
            <a:pPr indent="0" lvl="0" marL="0" rtl="0" algn="l">
              <a:spcBef>
                <a:spcPts val="1200"/>
              </a:spcBef>
              <a:spcAft>
                <a:spcPts val="0"/>
              </a:spcAft>
              <a:buNone/>
            </a:pPr>
            <a:r>
              <a:t/>
            </a:r>
            <a:endParaRPr b="1" sz="2200">
              <a:solidFill>
                <a:schemeClr val="dk1"/>
              </a:solidFill>
              <a:latin typeface="Calibri"/>
              <a:ea typeface="Calibri"/>
              <a:cs typeface="Calibri"/>
              <a:sym typeface="Calibri"/>
            </a:endParaRPr>
          </a:p>
          <a:p>
            <a:pPr indent="0" lvl="0" marL="0" rtl="0" algn="l">
              <a:spcBef>
                <a:spcPts val="1200"/>
              </a:spcBef>
              <a:spcAft>
                <a:spcPts val="0"/>
              </a:spcAft>
              <a:buNone/>
            </a:pPr>
            <a:r>
              <a:t/>
            </a:r>
            <a:endParaRPr b="1" sz="2200">
              <a:solidFill>
                <a:schemeClr val="dk1"/>
              </a:solidFill>
              <a:latin typeface="Calibri"/>
              <a:ea typeface="Calibri"/>
              <a:cs typeface="Calibri"/>
              <a:sym typeface="Calibri"/>
            </a:endParaRPr>
          </a:p>
          <a:p>
            <a:pPr indent="0" lvl="0" marL="0" rtl="0" algn="l">
              <a:spcBef>
                <a:spcPts val="1200"/>
              </a:spcBef>
              <a:spcAft>
                <a:spcPts val="0"/>
              </a:spcAft>
              <a:buNone/>
            </a:pPr>
            <a:r>
              <a:t/>
            </a:r>
            <a:endParaRPr sz="1300">
              <a:solidFill>
                <a:schemeClr val="dk1"/>
              </a:solidFill>
              <a:latin typeface="Calibri"/>
              <a:ea typeface="Calibri"/>
              <a:cs typeface="Calibri"/>
              <a:sym typeface="Calibri"/>
            </a:endParaRPr>
          </a:p>
          <a:p>
            <a:pPr indent="0" lvl="0" marL="0" rtl="0" algn="l">
              <a:spcBef>
                <a:spcPts val="1200"/>
              </a:spcBef>
              <a:spcAft>
                <a:spcPts val="1200"/>
              </a:spcAft>
              <a:buNone/>
            </a:pPr>
            <a:r>
              <a:t/>
            </a:r>
            <a:endParaRPr sz="13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204" name="Shape 204"/>
        <p:cNvGrpSpPr/>
        <p:nvPr/>
      </p:nvGrpSpPr>
      <p:grpSpPr>
        <a:xfrm>
          <a:off x="0" y="0"/>
          <a:ext cx="0" cy="0"/>
          <a:chOff x="0" y="0"/>
          <a:chExt cx="0" cy="0"/>
        </a:xfrm>
      </p:grpSpPr>
      <p:sp>
        <p:nvSpPr>
          <p:cNvPr id="205" name="Google Shape;205;p32"/>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Scenario 2</a:t>
            </a:r>
            <a:endParaRPr b="1" sz="3300">
              <a:latin typeface="Amatic SC"/>
              <a:ea typeface="Amatic SC"/>
              <a:cs typeface="Amatic SC"/>
              <a:sym typeface="Amatic SC"/>
            </a:endParaRPr>
          </a:p>
        </p:txBody>
      </p:sp>
      <p:sp>
        <p:nvSpPr>
          <p:cNvPr id="206" name="Google Shape;206;p32"/>
          <p:cNvSpPr txBox="1"/>
          <p:nvPr>
            <p:ph idx="1" type="body"/>
          </p:nvPr>
        </p:nvSpPr>
        <p:spPr>
          <a:xfrm>
            <a:off x="372175" y="4498450"/>
            <a:ext cx="8641800" cy="57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sz="1300">
                <a:solidFill>
                  <a:schemeClr val="dk1"/>
                </a:solidFill>
                <a:latin typeface="Calibri"/>
                <a:ea typeface="Calibri"/>
                <a:cs typeface="Calibri"/>
                <a:sym typeface="Calibri"/>
              </a:rPr>
              <a:t>Figure 10. Inorganic phosphorus in the lake ecosystem over 100 years, with an input of 1 mol of inorganic phosphorus steadily added over the years 40 to 50.</a:t>
            </a:r>
            <a:endParaRPr sz="1300">
              <a:solidFill>
                <a:schemeClr val="dk1"/>
              </a:solidFill>
              <a:latin typeface="Calibri"/>
              <a:ea typeface="Calibri"/>
              <a:cs typeface="Calibri"/>
              <a:sym typeface="Calibri"/>
            </a:endParaRPr>
          </a:p>
        </p:txBody>
      </p:sp>
      <p:sp>
        <p:nvSpPr>
          <p:cNvPr id="207" name="Google Shape;207;p32"/>
          <p:cNvSpPr txBox="1"/>
          <p:nvPr/>
        </p:nvSpPr>
        <p:spPr>
          <a:xfrm>
            <a:off x="6721800" y="687525"/>
            <a:ext cx="2110500" cy="325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dk1"/>
                </a:solidFill>
              </a:rPr>
              <a:t>Inorganic phosphorus reaches steady state again in year 66.7, which is around 17 years after the input of phosphorus stops.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The steady state amount of 0.1008 mol is the same as the original steady state.</a:t>
            </a:r>
            <a:endParaRPr sz="1800">
              <a:solidFill>
                <a:schemeClr val="dk2"/>
              </a:solidFill>
            </a:endParaRPr>
          </a:p>
        </p:txBody>
      </p:sp>
      <p:pic>
        <p:nvPicPr>
          <p:cNvPr id="208" name="Google Shape;208;p32"/>
          <p:cNvPicPr preferRelativeResize="0"/>
          <p:nvPr/>
        </p:nvPicPr>
        <p:blipFill>
          <a:blip r:embed="rId3">
            <a:alphaModFix/>
          </a:blip>
          <a:stretch>
            <a:fillRect/>
          </a:stretch>
        </p:blipFill>
        <p:spPr>
          <a:xfrm>
            <a:off x="372175" y="687525"/>
            <a:ext cx="6349625" cy="381243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212" name="Shape 212"/>
        <p:cNvGrpSpPr/>
        <p:nvPr/>
      </p:nvGrpSpPr>
      <p:grpSpPr>
        <a:xfrm>
          <a:off x="0" y="0"/>
          <a:ext cx="0" cy="0"/>
          <a:chOff x="0" y="0"/>
          <a:chExt cx="0" cy="0"/>
        </a:xfrm>
      </p:grpSpPr>
      <p:sp>
        <p:nvSpPr>
          <p:cNvPr id="213" name="Google Shape;213;p33"/>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Scenario 2</a:t>
            </a:r>
            <a:endParaRPr b="1" sz="3300">
              <a:latin typeface="Amatic SC"/>
              <a:ea typeface="Amatic SC"/>
              <a:cs typeface="Amatic SC"/>
              <a:sym typeface="Amatic SC"/>
            </a:endParaRPr>
          </a:p>
        </p:txBody>
      </p:sp>
      <p:sp>
        <p:nvSpPr>
          <p:cNvPr id="214" name="Google Shape;214;p33"/>
          <p:cNvSpPr txBox="1"/>
          <p:nvPr>
            <p:ph idx="1" type="body"/>
          </p:nvPr>
        </p:nvSpPr>
        <p:spPr>
          <a:xfrm>
            <a:off x="372175" y="4498450"/>
            <a:ext cx="8641800" cy="57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sz="1300">
                <a:solidFill>
                  <a:schemeClr val="dk1"/>
                </a:solidFill>
                <a:latin typeface="Calibri"/>
                <a:ea typeface="Calibri"/>
                <a:cs typeface="Calibri"/>
                <a:sym typeface="Calibri"/>
              </a:rPr>
              <a:t>Figure 11. Phosphorus in living organic state in the lake ecosystem over 100 years, with an input of 1 mol of inorganic phosphorus steadily added over the years 40 to 50.</a:t>
            </a:r>
            <a:endParaRPr sz="1300">
              <a:solidFill>
                <a:schemeClr val="dk1"/>
              </a:solidFill>
              <a:latin typeface="Calibri"/>
              <a:ea typeface="Calibri"/>
              <a:cs typeface="Calibri"/>
              <a:sym typeface="Calibri"/>
            </a:endParaRPr>
          </a:p>
        </p:txBody>
      </p:sp>
      <p:sp>
        <p:nvSpPr>
          <p:cNvPr id="215" name="Google Shape;215;p33"/>
          <p:cNvSpPr txBox="1"/>
          <p:nvPr/>
        </p:nvSpPr>
        <p:spPr>
          <a:xfrm>
            <a:off x="6721800" y="687525"/>
            <a:ext cx="2110500" cy="325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dk1"/>
                </a:solidFill>
              </a:rPr>
              <a:t>Phosphorus in living organic state, reached a new steady state in year 66.4, meaning it took around 16 years to reach a new steady state after there stopped being an input in inorganic phosphorus.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The new steady state amount is 0.3665 mol, which is greater than the original steady state amount.</a:t>
            </a:r>
            <a:endParaRPr sz="1800">
              <a:solidFill>
                <a:schemeClr val="dk2"/>
              </a:solidFill>
            </a:endParaRPr>
          </a:p>
        </p:txBody>
      </p:sp>
      <p:pic>
        <p:nvPicPr>
          <p:cNvPr id="216" name="Google Shape;216;p33"/>
          <p:cNvPicPr preferRelativeResize="0"/>
          <p:nvPr/>
        </p:nvPicPr>
        <p:blipFill>
          <a:blip r:embed="rId3">
            <a:alphaModFix/>
          </a:blip>
          <a:stretch>
            <a:fillRect/>
          </a:stretch>
        </p:blipFill>
        <p:spPr>
          <a:xfrm>
            <a:off x="311700" y="687525"/>
            <a:ext cx="6342571" cy="38109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220" name="Shape 220"/>
        <p:cNvGrpSpPr/>
        <p:nvPr/>
      </p:nvGrpSpPr>
      <p:grpSpPr>
        <a:xfrm>
          <a:off x="0" y="0"/>
          <a:ext cx="0" cy="0"/>
          <a:chOff x="0" y="0"/>
          <a:chExt cx="0" cy="0"/>
        </a:xfrm>
      </p:grpSpPr>
      <p:sp>
        <p:nvSpPr>
          <p:cNvPr id="221" name="Google Shape;221;p34"/>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Scenario 2</a:t>
            </a:r>
            <a:endParaRPr b="1" sz="3300">
              <a:latin typeface="Amatic SC"/>
              <a:ea typeface="Amatic SC"/>
              <a:cs typeface="Amatic SC"/>
              <a:sym typeface="Amatic SC"/>
            </a:endParaRPr>
          </a:p>
        </p:txBody>
      </p:sp>
      <p:sp>
        <p:nvSpPr>
          <p:cNvPr id="222" name="Google Shape;222;p34"/>
          <p:cNvSpPr txBox="1"/>
          <p:nvPr>
            <p:ph idx="1" type="body"/>
          </p:nvPr>
        </p:nvSpPr>
        <p:spPr>
          <a:xfrm>
            <a:off x="372175" y="4498450"/>
            <a:ext cx="8641800" cy="57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sz="1300">
                <a:solidFill>
                  <a:schemeClr val="dk1"/>
                </a:solidFill>
                <a:latin typeface="Calibri"/>
                <a:ea typeface="Calibri"/>
                <a:cs typeface="Calibri"/>
                <a:sym typeface="Calibri"/>
              </a:rPr>
              <a:t>Figure 12. Phosphorus in dead organic state in the lake ecosystem over 100 years, with an input of 1 mol of inorganic phosphorus steadily added over the years 40 to 50.</a:t>
            </a:r>
            <a:endParaRPr sz="1300">
              <a:solidFill>
                <a:schemeClr val="dk1"/>
              </a:solidFill>
              <a:latin typeface="Calibri"/>
              <a:ea typeface="Calibri"/>
              <a:cs typeface="Calibri"/>
              <a:sym typeface="Calibri"/>
            </a:endParaRPr>
          </a:p>
        </p:txBody>
      </p:sp>
      <p:sp>
        <p:nvSpPr>
          <p:cNvPr id="223" name="Google Shape;223;p34"/>
          <p:cNvSpPr txBox="1"/>
          <p:nvPr/>
        </p:nvSpPr>
        <p:spPr>
          <a:xfrm>
            <a:off x="6721800" y="687525"/>
            <a:ext cx="2110500" cy="325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dk1"/>
                </a:solidFill>
              </a:rPr>
              <a:t>Phosphorus in the dead organic state, it reached a new steady state in year 64.5, meaning it took around 15 years to reach a new steady state after the inorganic phosphorus input stopped.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The new steady state amount is 1.8327 mol, which is greater than the original steady state amount.</a:t>
            </a:r>
            <a:endParaRPr sz="1800">
              <a:solidFill>
                <a:schemeClr val="dk2"/>
              </a:solidFill>
            </a:endParaRPr>
          </a:p>
        </p:txBody>
      </p:sp>
      <p:pic>
        <p:nvPicPr>
          <p:cNvPr id="224" name="Google Shape;224;p34"/>
          <p:cNvPicPr preferRelativeResize="0"/>
          <p:nvPr/>
        </p:nvPicPr>
        <p:blipFill>
          <a:blip r:embed="rId3">
            <a:alphaModFix/>
          </a:blip>
          <a:stretch>
            <a:fillRect/>
          </a:stretch>
        </p:blipFill>
        <p:spPr>
          <a:xfrm>
            <a:off x="341956" y="687525"/>
            <a:ext cx="6100081" cy="38109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228" name="Shape 228"/>
        <p:cNvGrpSpPr/>
        <p:nvPr/>
      </p:nvGrpSpPr>
      <p:grpSpPr>
        <a:xfrm>
          <a:off x="0" y="0"/>
          <a:ext cx="0" cy="0"/>
          <a:chOff x="0" y="0"/>
          <a:chExt cx="0" cy="0"/>
        </a:xfrm>
      </p:grpSpPr>
      <p:sp>
        <p:nvSpPr>
          <p:cNvPr id="229" name="Google Shape;229;p35"/>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Conclusion: Scenarios</a:t>
            </a:r>
            <a:endParaRPr b="1" sz="3300">
              <a:latin typeface="Amatic SC"/>
              <a:ea typeface="Amatic SC"/>
              <a:cs typeface="Amatic SC"/>
              <a:sym typeface="Amatic SC"/>
            </a:endParaRPr>
          </a:p>
        </p:txBody>
      </p:sp>
      <p:sp>
        <p:nvSpPr>
          <p:cNvPr id="230" name="Google Shape;230;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latin typeface="Calibri"/>
                <a:ea typeface="Calibri"/>
                <a:cs typeface="Calibri"/>
                <a:sym typeface="Calibri"/>
              </a:rPr>
              <a:t>Compare scenario 1 and 2:</a:t>
            </a:r>
            <a:endParaRPr b="1">
              <a:solidFill>
                <a:schemeClr val="dk1"/>
              </a:solidFill>
              <a:latin typeface="Calibri"/>
              <a:ea typeface="Calibri"/>
              <a:cs typeface="Calibri"/>
              <a:sym typeface="Calibri"/>
            </a:endParaRPr>
          </a:p>
          <a:p>
            <a:pPr indent="-342900" lvl="0" marL="457200" rtl="0" algn="l">
              <a:spcBef>
                <a:spcPts val="1200"/>
              </a:spcBef>
              <a:spcAft>
                <a:spcPts val="0"/>
              </a:spcAft>
              <a:buClr>
                <a:schemeClr val="dk1"/>
              </a:buClr>
              <a:buSzPts val="1800"/>
              <a:buFont typeface="Calibri"/>
              <a:buChar char="-"/>
            </a:pPr>
            <a:r>
              <a:rPr lang="en">
                <a:solidFill>
                  <a:schemeClr val="dk1"/>
                </a:solidFill>
                <a:latin typeface="Calibri"/>
                <a:ea typeface="Calibri"/>
                <a:cs typeface="Calibri"/>
                <a:sym typeface="Calibri"/>
              </a:rPr>
              <a:t>Regardless of whether the inorganic phosphorus is added in one step or over a span of years, the final steady states of the reservoirs would be the same. </a:t>
            </a:r>
            <a:endParaRPr>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The time it takes for the new steady states to be reached is different. </a:t>
            </a:r>
            <a:endParaRPr>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For both scenarios, the new steady state amount and the original steady state amount remained the same for the inorganic phosphorus reservoir</a:t>
            </a:r>
            <a:endParaRPr>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For both the phosphorus in dead organic matter and phosphorus in living organic matter reservoirs, the new steady state amount was greater than the original steady state amount. </a:t>
            </a:r>
            <a:endParaRPr>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234" name="Shape 234"/>
        <p:cNvGrpSpPr/>
        <p:nvPr/>
      </p:nvGrpSpPr>
      <p:grpSpPr>
        <a:xfrm>
          <a:off x="0" y="0"/>
          <a:ext cx="0" cy="0"/>
          <a:chOff x="0" y="0"/>
          <a:chExt cx="0" cy="0"/>
        </a:xfrm>
      </p:grpSpPr>
      <p:sp>
        <p:nvSpPr>
          <p:cNvPr id="235" name="Google Shape;235;p36"/>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Conclusion: Successes, limitations and applications</a:t>
            </a:r>
            <a:endParaRPr b="1" sz="3300">
              <a:latin typeface="Amatic SC"/>
              <a:ea typeface="Amatic SC"/>
              <a:cs typeface="Amatic SC"/>
              <a:sym typeface="Amatic SC"/>
            </a:endParaRPr>
          </a:p>
        </p:txBody>
      </p:sp>
      <p:sp>
        <p:nvSpPr>
          <p:cNvPr id="236" name="Google Shape;236;p36"/>
          <p:cNvSpPr txBox="1"/>
          <p:nvPr>
            <p:ph idx="1" type="body"/>
          </p:nvPr>
        </p:nvSpPr>
        <p:spPr>
          <a:xfrm>
            <a:off x="547875" y="814175"/>
            <a:ext cx="7590600" cy="3732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b="1" lang="en" sz="1730">
                <a:solidFill>
                  <a:schemeClr val="dk1"/>
                </a:solidFill>
                <a:latin typeface="Calibri"/>
                <a:ea typeface="Calibri"/>
                <a:cs typeface="Calibri"/>
                <a:sym typeface="Calibri"/>
              </a:rPr>
              <a:t>Success:</a:t>
            </a:r>
            <a:endParaRPr b="1" sz="1730">
              <a:solidFill>
                <a:schemeClr val="dk1"/>
              </a:solidFill>
              <a:latin typeface="Calibri"/>
              <a:ea typeface="Calibri"/>
              <a:cs typeface="Calibri"/>
              <a:sym typeface="Calibri"/>
            </a:endParaRPr>
          </a:p>
          <a:p>
            <a:pPr indent="-338455" lvl="0" marL="457200" rtl="0" algn="l">
              <a:lnSpc>
                <a:spcPct val="95000"/>
              </a:lnSpc>
              <a:spcBef>
                <a:spcPts val="1200"/>
              </a:spcBef>
              <a:spcAft>
                <a:spcPts val="0"/>
              </a:spcAft>
              <a:buClr>
                <a:schemeClr val="dk1"/>
              </a:buClr>
              <a:buSzPts val="1730"/>
              <a:buFont typeface="Calibri"/>
              <a:buChar char="-"/>
            </a:pPr>
            <a:r>
              <a:rPr lang="en" sz="1730">
                <a:solidFill>
                  <a:schemeClr val="dk1"/>
                </a:solidFill>
                <a:latin typeface="Calibri"/>
                <a:ea typeface="Calibri"/>
                <a:cs typeface="Calibri"/>
                <a:sym typeface="Calibri"/>
              </a:rPr>
              <a:t>Connects the three phosphorus reservoirs and provides rough estimates of how each of them change over time</a:t>
            </a:r>
            <a:endParaRPr sz="1730">
              <a:solidFill>
                <a:schemeClr val="dk1"/>
              </a:solidFill>
              <a:latin typeface="Calibri"/>
              <a:ea typeface="Calibri"/>
              <a:cs typeface="Calibri"/>
              <a:sym typeface="Calibri"/>
            </a:endParaRPr>
          </a:p>
          <a:p>
            <a:pPr indent="0" lvl="0" marL="0" rtl="0" algn="l">
              <a:lnSpc>
                <a:spcPct val="95000"/>
              </a:lnSpc>
              <a:spcBef>
                <a:spcPts val="1200"/>
              </a:spcBef>
              <a:spcAft>
                <a:spcPts val="0"/>
              </a:spcAft>
              <a:buSzPts val="935"/>
              <a:buNone/>
            </a:pPr>
            <a:r>
              <a:rPr b="1" lang="en" sz="1730">
                <a:solidFill>
                  <a:schemeClr val="dk1"/>
                </a:solidFill>
                <a:latin typeface="Calibri"/>
                <a:ea typeface="Calibri"/>
                <a:cs typeface="Calibri"/>
                <a:sym typeface="Calibri"/>
              </a:rPr>
              <a:t>Limitation</a:t>
            </a:r>
            <a:r>
              <a:rPr lang="en" sz="1730">
                <a:solidFill>
                  <a:schemeClr val="dk1"/>
                </a:solidFill>
                <a:latin typeface="Calibri"/>
                <a:ea typeface="Calibri"/>
                <a:cs typeface="Calibri"/>
                <a:sym typeface="Calibri"/>
              </a:rPr>
              <a:t>: </a:t>
            </a:r>
            <a:endParaRPr sz="1730">
              <a:solidFill>
                <a:schemeClr val="dk1"/>
              </a:solidFill>
              <a:latin typeface="Calibri"/>
              <a:ea typeface="Calibri"/>
              <a:cs typeface="Calibri"/>
              <a:sym typeface="Calibri"/>
            </a:endParaRPr>
          </a:p>
          <a:p>
            <a:pPr indent="-338455" lvl="0" marL="457200" rtl="0" algn="l">
              <a:lnSpc>
                <a:spcPct val="95000"/>
              </a:lnSpc>
              <a:spcBef>
                <a:spcPts val="1200"/>
              </a:spcBef>
              <a:spcAft>
                <a:spcPts val="0"/>
              </a:spcAft>
              <a:buClr>
                <a:schemeClr val="dk1"/>
              </a:buClr>
              <a:buSzPts val="1730"/>
              <a:buFont typeface="Calibri"/>
              <a:buChar char="-"/>
            </a:pPr>
            <a:r>
              <a:rPr lang="en" sz="1730">
                <a:solidFill>
                  <a:schemeClr val="dk1"/>
                </a:solidFill>
                <a:latin typeface="Calibri"/>
                <a:ea typeface="Calibri"/>
                <a:cs typeface="Calibri"/>
                <a:sym typeface="Calibri"/>
              </a:rPr>
              <a:t>Our model only considers phosphorus in the lake ecosystem</a:t>
            </a:r>
            <a:endParaRPr sz="1730">
              <a:solidFill>
                <a:schemeClr val="dk1"/>
              </a:solidFill>
              <a:latin typeface="Calibri"/>
              <a:ea typeface="Calibri"/>
              <a:cs typeface="Calibri"/>
              <a:sym typeface="Calibri"/>
            </a:endParaRPr>
          </a:p>
          <a:p>
            <a:pPr indent="-338455" lvl="0" marL="457200" rtl="0" algn="l">
              <a:lnSpc>
                <a:spcPct val="95000"/>
              </a:lnSpc>
              <a:spcBef>
                <a:spcPts val="0"/>
              </a:spcBef>
              <a:spcAft>
                <a:spcPts val="0"/>
              </a:spcAft>
              <a:buClr>
                <a:schemeClr val="dk1"/>
              </a:buClr>
              <a:buSzPts val="1730"/>
              <a:buFont typeface="Calibri"/>
              <a:buChar char="-"/>
            </a:pPr>
            <a:r>
              <a:rPr lang="en" sz="1730">
                <a:solidFill>
                  <a:schemeClr val="dk1"/>
                </a:solidFill>
                <a:latin typeface="Calibri"/>
                <a:ea typeface="Calibri"/>
                <a:cs typeface="Calibri"/>
                <a:sym typeface="Calibri"/>
              </a:rPr>
              <a:t>The actual ecosystem has many other nutrients or factors that likely have an impact and would be affected by the industrial waste</a:t>
            </a:r>
            <a:endParaRPr sz="1730">
              <a:solidFill>
                <a:schemeClr val="dk1"/>
              </a:solidFill>
              <a:latin typeface="Calibri"/>
              <a:ea typeface="Calibri"/>
              <a:cs typeface="Calibri"/>
              <a:sym typeface="Calibri"/>
            </a:endParaRPr>
          </a:p>
          <a:p>
            <a:pPr indent="0" lvl="0" marL="0" rtl="0" algn="l">
              <a:lnSpc>
                <a:spcPct val="95000"/>
              </a:lnSpc>
              <a:spcBef>
                <a:spcPts val="1200"/>
              </a:spcBef>
              <a:spcAft>
                <a:spcPts val="0"/>
              </a:spcAft>
              <a:buSzPts val="935"/>
              <a:buNone/>
            </a:pPr>
            <a:r>
              <a:rPr b="1" lang="en" sz="1730">
                <a:solidFill>
                  <a:schemeClr val="dk1"/>
                </a:solidFill>
                <a:latin typeface="Calibri"/>
                <a:ea typeface="Calibri"/>
                <a:cs typeface="Calibri"/>
                <a:sym typeface="Calibri"/>
              </a:rPr>
              <a:t>Broader applications</a:t>
            </a:r>
            <a:r>
              <a:rPr lang="en" sz="1730">
                <a:solidFill>
                  <a:schemeClr val="dk1"/>
                </a:solidFill>
                <a:latin typeface="Calibri"/>
                <a:ea typeface="Calibri"/>
                <a:cs typeface="Calibri"/>
                <a:sym typeface="Calibri"/>
              </a:rPr>
              <a:t>: </a:t>
            </a:r>
            <a:endParaRPr sz="1730">
              <a:solidFill>
                <a:schemeClr val="dk1"/>
              </a:solidFill>
              <a:latin typeface="Calibri"/>
              <a:ea typeface="Calibri"/>
              <a:cs typeface="Calibri"/>
              <a:sym typeface="Calibri"/>
            </a:endParaRPr>
          </a:p>
          <a:p>
            <a:pPr indent="-338455" lvl="0" marL="457200" rtl="0" algn="l">
              <a:lnSpc>
                <a:spcPct val="95000"/>
              </a:lnSpc>
              <a:spcBef>
                <a:spcPts val="1200"/>
              </a:spcBef>
              <a:spcAft>
                <a:spcPts val="0"/>
              </a:spcAft>
              <a:buClr>
                <a:schemeClr val="dk1"/>
              </a:buClr>
              <a:buSzPts val="1730"/>
              <a:buFont typeface="Calibri"/>
              <a:buChar char="-"/>
            </a:pPr>
            <a:r>
              <a:rPr lang="en" sz="1730">
                <a:solidFill>
                  <a:schemeClr val="dk1"/>
                </a:solidFill>
                <a:latin typeface="Calibri"/>
                <a:ea typeface="Calibri"/>
                <a:cs typeface="Calibri"/>
                <a:sym typeface="Calibri"/>
              </a:rPr>
              <a:t>Support construction planning</a:t>
            </a:r>
            <a:endParaRPr sz="1730">
              <a:solidFill>
                <a:schemeClr val="dk1"/>
              </a:solidFill>
              <a:latin typeface="Calibri"/>
              <a:ea typeface="Calibri"/>
              <a:cs typeface="Calibri"/>
              <a:sym typeface="Calibri"/>
            </a:endParaRPr>
          </a:p>
          <a:p>
            <a:pPr indent="-338455" lvl="0" marL="457200" rtl="0" algn="l">
              <a:lnSpc>
                <a:spcPct val="95000"/>
              </a:lnSpc>
              <a:spcBef>
                <a:spcPts val="0"/>
              </a:spcBef>
              <a:spcAft>
                <a:spcPts val="0"/>
              </a:spcAft>
              <a:buClr>
                <a:schemeClr val="dk1"/>
              </a:buClr>
              <a:buSzPts val="1730"/>
              <a:buFont typeface="Calibri"/>
              <a:buChar char="-"/>
            </a:pPr>
            <a:r>
              <a:rPr lang="en" sz="1730">
                <a:solidFill>
                  <a:schemeClr val="dk1"/>
                </a:solidFill>
                <a:latin typeface="Calibri"/>
                <a:ea typeface="Calibri"/>
                <a:cs typeface="Calibri"/>
                <a:sym typeface="Calibri"/>
              </a:rPr>
              <a:t>Convey importance of understanding the implications that modern infrastructure development can have</a:t>
            </a:r>
            <a:endParaRPr sz="1730">
              <a:solidFill>
                <a:schemeClr val="dk1"/>
              </a:solidFill>
              <a:latin typeface="Calibri"/>
              <a:ea typeface="Calibri"/>
              <a:cs typeface="Calibri"/>
              <a:sym typeface="Calibri"/>
            </a:endParaRPr>
          </a:p>
          <a:p>
            <a:pPr indent="-338455" lvl="0" marL="457200" rtl="0" algn="l">
              <a:lnSpc>
                <a:spcPct val="95000"/>
              </a:lnSpc>
              <a:spcBef>
                <a:spcPts val="0"/>
              </a:spcBef>
              <a:spcAft>
                <a:spcPts val="0"/>
              </a:spcAft>
              <a:buClr>
                <a:schemeClr val="dk1"/>
              </a:buClr>
              <a:buSzPts val="1730"/>
              <a:buFont typeface="Calibri"/>
              <a:buChar char="-"/>
            </a:pPr>
            <a:r>
              <a:rPr lang="en" sz="1730">
                <a:solidFill>
                  <a:schemeClr val="dk1"/>
                </a:solidFill>
                <a:latin typeface="Calibri"/>
                <a:ea typeface="Calibri"/>
                <a:cs typeface="Calibri"/>
                <a:sym typeface="Calibri"/>
              </a:rPr>
              <a:t>Build away from lakes</a:t>
            </a:r>
            <a:endParaRPr sz="173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240" name="Shape 240"/>
        <p:cNvGrpSpPr/>
        <p:nvPr/>
      </p:nvGrpSpPr>
      <p:grpSpPr>
        <a:xfrm>
          <a:off x="0" y="0"/>
          <a:ext cx="0" cy="0"/>
          <a:chOff x="0" y="0"/>
          <a:chExt cx="0" cy="0"/>
        </a:xfrm>
      </p:grpSpPr>
      <p:sp>
        <p:nvSpPr>
          <p:cNvPr id="241" name="Google Shape;241;p37"/>
          <p:cNvSpPr txBox="1"/>
          <p:nvPr>
            <p:ph type="title"/>
          </p:nvPr>
        </p:nvSpPr>
        <p:spPr>
          <a:xfrm>
            <a:off x="311700" y="114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matic SC"/>
                <a:ea typeface="Amatic SC"/>
                <a:cs typeface="Amatic SC"/>
                <a:sym typeface="Amatic SC"/>
              </a:rPr>
              <a:t>Appendix</a:t>
            </a:r>
            <a:endParaRPr b="1" sz="3300">
              <a:latin typeface="Amatic SC"/>
              <a:ea typeface="Amatic SC"/>
              <a:cs typeface="Amatic SC"/>
              <a:sym typeface="Amatic SC"/>
            </a:endParaRPr>
          </a:p>
        </p:txBody>
      </p:sp>
      <p:sp>
        <p:nvSpPr>
          <p:cNvPr id="242" name="Google Shape;242;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latin typeface="Calibri"/>
                <a:ea typeface="Calibri"/>
                <a:cs typeface="Calibri"/>
                <a:sym typeface="Calibri"/>
              </a:rPr>
              <a:t>Member Contributions:</a:t>
            </a:r>
            <a:endParaRPr b="1">
              <a:solidFill>
                <a:schemeClr val="dk1"/>
              </a:solidFill>
              <a:latin typeface="Calibri"/>
              <a:ea typeface="Calibri"/>
              <a:cs typeface="Calibri"/>
              <a:sym typeface="Calibri"/>
            </a:endParaRPr>
          </a:p>
          <a:p>
            <a:pPr indent="0" lvl="0" marL="0" rtl="0" algn="l">
              <a:spcBef>
                <a:spcPts val="1200"/>
              </a:spcBef>
              <a:spcAft>
                <a:spcPts val="0"/>
              </a:spcAft>
              <a:buNone/>
            </a:pPr>
            <a:r>
              <a:rPr lang="en">
                <a:solidFill>
                  <a:schemeClr val="dk1"/>
                </a:solidFill>
                <a:latin typeface="Calibri"/>
                <a:ea typeface="Calibri"/>
                <a:cs typeface="Calibri"/>
                <a:sym typeface="Calibri"/>
              </a:rPr>
              <a:t>Alexis Kuerbig: Slide editing/organization, introduction/background research</a:t>
            </a:r>
            <a:endParaRPr>
              <a:solidFill>
                <a:schemeClr val="dk1"/>
              </a:solidFill>
              <a:latin typeface="Calibri"/>
              <a:ea typeface="Calibri"/>
              <a:cs typeface="Calibri"/>
              <a:sym typeface="Calibri"/>
            </a:endParaRPr>
          </a:p>
          <a:p>
            <a:pPr indent="0" lvl="0" marL="0" rtl="0" algn="l">
              <a:spcBef>
                <a:spcPts val="1200"/>
              </a:spcBef>
              <a:spcAft>
                <a:spcPts val="0"/>
              </a:spcAft>
              <a:buNone/>
            </a:pPr>
            <a:r>
              <a:rPr lang="en">
                <a:solidFill>
                  <a:schemeClr val="dk1"/>
                </a:solidFill>
                <a:latin typeface="Calibri"/>
                <a:ea typeface="Calibri"/>
                <a:cs typeface="Calibri"/>
                <a:sym typeface="Calibri"/>
              </a:rPr>
              <a:t>Rachel Leung: Slide editing, part 2 models</a:t>
            </a:r>
            <a:endParaRPr>
              <a:solidFill>
                <a:schemeClr val="dk1"/>
              </a:solidFill>
              <a:latin typeface="Calibri"/>
              <a:ea typeface="Calibri"/>
              <a:cs typeface="Calibri"/>
              <a:sym typeface="Calibri"/>
            </a:endParaRPr>
          </a:p>
          <a:p>
            <a:pPr indent="0" lvl="0" marL="0" rtl="0" algn="l">
              <a:spcBef>
                <a:spcPts val="1200"/>
              </a:spcBef>
              <a:spcAft>
                <a:spcPts val="0"/>
              </a:spcAft>
              <a:buNone/>
            </a:pPr>
            <a:r>
              <a:rPr lang="en">
                <a:solidFill>
                  <a:schemeClr val="dk1"/>
                </a:solidFill>
                <a:latin typeface="Calibri"/>
                <a:ea typeface="Calibri"/>
                <a:cs typeface="Calibri"/>
                <a:sym typeface="Calibri"/>
              </a:rPr>
              <a:t>Niko Vahlas: Slide editing, video editing, part 2 models</a:t>
            </a:r>
            <a:endParaRPr>
              <a:solidFill>
                <a:schemeClr val="dk1"/>
              </a:solidFill>
              <a:latin typeface="Calibri"/>
              <a:ea typeface="Calibri"/>
              <a:cs typeface="Calibri"/>
              <a:sym typeface="Calibri"/>
            </a:endParaRPr>
          </a:p>
          <a:p>
            <a:pPr indent="0" lvl="0" marL="0" rtl="0" algn="l">
              <a:spcBef>
                <a:spcPts val="1200"/>
              </a:spcBef>
              <a:spcAft>
                <a:spcPts val="0"/>
              </a:spcAft>
              <a:buNone/>
            </a:pPr>
            <a:r>
              <a:rPr lang="en">
                <a:solidFill>
                  <a:schemeClr val="dk1"/>
                </a:solidFill>
                <a:latin typeface="Calibri"/>
                <a:ea typeface="Calibri"/>
                <a:cs typeface="Calibri"/>
                <a:sym typeface="Calibri"/>
              </a:rPr>
              <a:t>Cindy Wong: Slide editing, organization, model description</a:t>
            </a:r>
            <a:endParaRPr>
              <a:solidFill>
                <a:schemeClr val="dk1"/>
              </a:solidFill>
              <a:latin typeface="Calibri"/>
              <a:ea typeface="Calibri"/>
              <a:cs typeface="Calibri"/>
              <a:sym typeface="Calibri"/>
            </a:endParaRPr>
          </a:p>
          <a:p>
            <a:pPr indent="0" lvl="0" marL="0" rtl="0" algn="l">
              <a:spcBef>
                <a:spcPts val="1200"/>
              </a:spcBef>
              <a:spcAft>
                <a:spcPts val="0"/>
              </a:spcAft>
              <a:buNone/>
            </a:pPr>
            <a:r>
              <a:rPr lang="en">
                <a:solidFill>
                  <a:schemeClr val="dk1"/>
                </a:solidFill>
                <a:latin typeface="Calibri"/>
                <a:ea typeface="Calibri"/>
                <a:cs typeface="Calibri"/>
                <a:sym typeface="Calibri"/>
              </a:rPr>
              <a:t>Ruoxuan Li: Slide editing &amp; organization, part 2 models</a:t>
            </a:r>
            <a:endParaRPr>
              <a:solidFill>
                <a:schemeClr val="dk1"/>
              </a:solidFill>
              <a:latin typeface="Calibri"/>
              <a:ea typeface="Calibri"/>
              <a:cs typeface="Calibri"/>
              <a:sym typeface="Calibri"/>
            </a:endParaRPr>
          </a:p>
          <a:p>
            <a:pPr indent="0" lvl="0" marL="0" rtl="0" algn="l">
              <a:spcBef>
                <a:spcPts val="1200"/>
              </a:spcBef>
              <a:spcAft>
                <a:spcPts val="1200"/>
              </a:spcAft>
              <a:buNone/>
            </a:pPr>
            <a:r>
              <a:t/>
            </a:r>
            <a:endParaRPr>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